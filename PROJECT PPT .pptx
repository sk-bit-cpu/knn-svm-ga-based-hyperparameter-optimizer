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5" r:id="rId2"/>
  </p:sldMasterIdLst>
  <p:notesMasterIdLst>
    <p:notesMasterId r:id="rId19"/>
  </p:notesMasterIdLst>
  <p:sldIdLst>
    <p:sldId id="405" r:id="rId3"/>
    <p:sldId id="257" r:id="rId4"/>
    <p:sldId id="445" r:id="rId5"/>
    <p:sldId id="407" r:id="rId6"/>
    <p:sldId id="390" r:id="rId7"/>
    <p:sldId id="447" r:id="rId8"/>
    <p:sldId id="450" r:id="rId9"/>
    <p:sldId id="449" r:id="rId10"/>
    <p:sldId id="454" r:id="rId11"/>
    <p:sldId id="432" r:id="rId12"/>
    <p:sldId id="453" r:id="rId13"/>
    <p:sldId id="448" r:id="rId14"/>
    <p:sldId id="451" r:id="rId15"/>
    <p:sldId id="455" r:id="rId16"/>
    <p:sldId id="452" r:id="rId17"/>
    <p:sldId id="399" r:id="rId1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38" autoAdjust="0"/>
    <p:restoredTop sz="94404" autoAdjust="0"/>
  </p:normalViewPr>
  <p:slideViewPr>
    <p:cSldViewPr snapToGrid="0">
      <p:cViewPr varScale="1">
        <p:scale>
          <a:sx n="98" d="100"/>
          <a:sy n="98" d="100"/>
        </p:scale>
        <p:origin x="3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FC3D00-D307-4968-B242-06BEA4BA530E}" type="datetimeFigureOut">
              <a:rPr lang="en-US" smtClean="0"/>
              <a:t>4/7/2026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1AABBE-24C1-45B5-BBEA-107323E6B003}" type="slidenum">
              <a:rPr lang="en-US" smtClean="0"/>
              <a:t>‹#›</a:t>
            </a:fld>
            <a:endParaRPr lang="en-US"/>
          </a:p>
        </p:txBody>
      </p:sp>
    </p:spTree>
    <p:extLst>
      <p:ext uri="{BB962C8B-B14F-4D97-AF65-F5344CB8AC3E}">
        <p14:creationId xmlns:p14="http://schemas.microsoft.com/office/powerpoint/2010/main" val="3434355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311760" y="73800"/>
            <a:ext cx="8520120" cy="572400"/>
          </a:xfrm>
          <a:prstGeom prst="rect">
            <a:avLst/>
          </a:prstGeom>
        </p:spPr>
        <p:txBody>
          <a:bodyPr lIns="0" tIns="0" rIns="0" bIns="0" anchor="ctr">
            <a:noAutofit/>
          </a:bodyPr>
          <a:lstStyle/>
          <a:p>
            <a:endParaRPr lang="en-US" sz="1400" b="0" strike="noStrike" spc="-1">
              <a:solidFill>
                <a:srgbClr val="000000"/>
              </a:solidFill>
              <a:latin typeface="Arial" panose="020B0604020202020204"/>
            </a:endParaRPr>
          </a:p>
        </p:txBody>
      </p:sp>
      <p:sp>
        <p:nvSpPr>
          <p:cNvPr id="47" name="PlaceHolder 2"/>
          <p:cNvSpPr>
            <a:spLocks noGrp="1"/>
          </p:cNvSpPr>
          <p:nvPr>
            <p:ph type="subTitle"/>
          </p:nvPr>
        </p:nvSpPr>
        <p:spPr>
          <a:xfrm>
            <a:off x="311760" y="863640"/>
            <a:ext cx="8520120" cy="3416040"/>
          </a:xfrm>
          <a:prstGeom prst="rect">
            <a:avLst/>
          </a:prstGeom>
        </p:spPr>
        <p:txBody>
          <a:bodyPr lIns="0" tIns="0" rIns="0" bIns="0" anchor="ctr">
            <a:noAutofit/>
          </a:bodyPr>
          <a:lstStyle/>
          <a:p>
            <a:pPr algn="ctr"/>
            <a:endParaRPr lang="en-US" sz="3200" b="0" strike="noStrike" spc="-1">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311760" y="73800"/>
            <a:ext cx="8520120" cy="572400"/>
          </a:xfrm>
          <a:prstGeom prst="rect">
            <a:avLst/>
          </a:prstGeom>
        </p:spPr>
        <p:txBody>
          <a:bodyPr lIns="0" tIns="0" rIns="0" bIns="0" anchor="ctr">
            <a:noAutofit/>
          </a:bodyPr>
          <a:lstStyle/>
          <a:p>
            <a:endParaRPr lang="en-US" sz="1400" b="0" strike="noStrike" spc="-1">
              <a:solidFill>
                <a:srgbClr val="000000"/>
              </a:solidFill>
              <a:latin typeface="Arial" panose="020B0604020202020204"/>
            </a:endParaRPr>
          </a:p>
        </p:txBody>
      </p:sp>
      <p:sp>
        <p:nvSpPr>
          <p:cNvPr id="49" name="PlaceHolder 2"/>
          <p:cNvSpPr>
            <a:spLocks noGrp="1"/>
          </p:cNvSpPr>
          <p:nvPr>
            <p:ph type="body"/>
          </p:nvPr>
        </p:nvSpPr>
        <p:spPr>
          <a:xfrm>
            <a:off x="311760" y="863640"/>
            <a:ext cx="8520120" cy="341604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311760" y="73800"/>
            <a:ext cx="8520120" cy="572400"/>
          </a:xfrm>
          <a:prstGeom prst="rect">
            <a:avLst/>
          </a:prstGeom>
        </p:spPr>
        <p:txBody>
          <a:bodyPr lIns="0" tIns="0" rIns="0" bIns="0" anchor="ctr">
            <a:noAutofit/>
          </a:bodyPr>
          <a:lstStyle/>
          <a:p>
            <a:endParaRPr lang="en-US" sz="1400" b="0" strike="noStrike" spc="-1">
              <a:solidFill>
                <a:srgbClr val="000000"/>
              </a:solidFill>
              <a:latin typeface="Arial" panose="020B0604020202020204"/>
            </a:endParaRPr>
          </a:p>
        </p:txBody>
      </p:sp>
      <p:sp>
        <p:nvSpPr>
          <p:cNvPr id="51" name="PlaceHolder 2"/>
          <p:cNvSpPr>
            <a:spLocks noGrp="1"/>
          </p:cNvSpPr>
          <p:nvPr>
            <p:ph type="body"/>
          </p:nvPr>
        </p:nvSpPr>
        <p:spPr>
          <a:xfrm>
            <a:off x="311760" y="863640"/>
            <a:ext cx="4157640" cy="341604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
        <p:nvSpPr>
          <p:cNvPr id="52" name="PlaceHolder 3"/>
          <p:cNvSpPr>
            <a:spLocks noGrp="1"/>
          </p:cNvSpPr>
          <p:nvPr>
            <p:ph type="body"/>
          </p:nvPr>
        </p:nvSpPr>
        <p:spPr>
          <a:xfrm>
            <a:off x="4677840" y="863640"/>
            <a:ext cx="4157640" cy="341604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311760" y="73800"/>
            <a:ext cx="8520120" cy="572400"/>
          </a:xfrm>
          <a:prstGeom prst="rect">
            <a:avLst/>
          </a:prstGeom>
        </p:spPr>
        <p:txBody>
          <a:bodyPr lIns="0" tIns="0" rIns="0" bIns="0" anchor="ctr">
            <a:noAutofit/>
          </a:bodyPr>
          <a:lstStyle/>
          <a:p>
            <a:endParaRPr lang="en-US" sz="1400" b="0" strike="noStrike" spc="-1">
              <a:solidFill>
                <a:srgbClr val="000000"/>
              </a:solidFill>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311760" y="73800"/>
            <a:ext cx="8520120" cy="2654640"/>
          </a:xfrm>
          <a:prstGeom prst="rect">
            <a:avLst/>
          </a:prstGeom>
        </p:spPr>
        <p:txBody>
          <a:bodyPr lIns="0" tIns="0" rIns="0" bIns="0" anchor="ctr">
            <a:noAutofit/>
          </a:bodyPr>
          <a:lstStyle/>
          <a:p>
            <a:pPr algn="ctr"/>
            <a:endParaRPr lang="en-US"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311760" y="73800"/>
            <a:ext cx="8520120" cy="572400"/>
          </a:xfrm>
          <a:prstGeom prst="rect">
            <a:avLst/>
          </a:prstGeom>
        </p:spPr>
        <p:txBody>
          <a:bodyPr lIns="0" tIns="0" rIns="0" bIns="0" anchor="ctr">
            <a:noAutofit/>
          </a:bodyPr>
          <a:lstStyle/>
          <a:p>
            <a:endParaRPr lang="en-US" sz="1400" b="0" strike="noStrike" spc="-1">
              <a:solidFill>
                <a:srgbClr val="000000"/>
              </a:solidFill>
              <a:latin typeface="Arial" panose="020B0604020202020204"/>
            </a:endParaRPr>
          </a:p>
        </p:txBody>
      </p:sp>
      <p:sp>
        <p:nvSpPr>
          <p:cNvPr id="56" name="PlaceHolder 2"/>
          <p:cNvSpPr>
            <a:spLocks noGrp="1"/>
          </p:cNvSpPr>
          <p:nvPr>
            <p:ph type="body"/>
          </p:nvPr>
        </p:nvSpPr>
        <p:spPr>
          <a:xfrm>
            <a:off x="311760" y="863640"/>
            <a:ext cx="4157640" cy="162936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
        <p:nvSpPr>
          <p:cNvPr id="57" name="PlaceHolder 3"/>
          <p:cNvSpPr>
            <a:spLocks noGrp="1"/>
          </p:cNvSpPr>
          <p:nvPr>
            <p:ph type="body"/>
          </p:nvPr>
        </p:nvSpPr>
        <p:spPr>
          <a:xfrm>
            <a:off x="4677840" y="863640"/>
            <a:ext cx="4157640" cy="341604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
        <p:nvSpPr>
          <p:cNvPr id="58" name="PlaceHolder 4"/>
          <p:cNvSpPr>
            <a:spLocks noGrp="1"/>
          </p:cNvSpPr>
          <p:nvPr>
            <p:ph type="body"/>
          </p:nvPr>
        </p:nvSpPr>
        <p:spPr>
          <a:xfrm>
            <a:off x="311760" y="2648160"/>
            <a:ext cx="4157640" cy="162936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311760" y="73800"/>
            <a:ext cx="8520120" cy="572400"/>
          </a:xfrm>
          <a:prstGeom prst="rect">
            <a:avLst/>
          </a:prstGeom>
        </p:spPr>
        <p:txBody>
          <a:bodyPr lIns="0" tIns="0" rIns="0" bIns="0" anchor="ctr">
            <a:noAutofit/>
          </a:bodyPr>
          <a:lstStyle/>
          <a:p>
            <a:endParaRPr lang="en-US" sz="1400" b="0" strike="noStrike" spc="-1">
              <a:solidFill>
                <a:srgbClr val="000000"/>
              </a:solidFill>
              <a:latin typeface="Arial" panose="020B0604020202020204"/>
            </a:endParaRPr>
          </a:p>
        </p:txBody>
      </p:sp>
      <p:sp>
        <p:nvSpPr>
          <p:cNvPr id="60" name="PlaceHolder 2"/>
          <p:cNvSpPr>
            <a:spLocks noGrp="1"/>
          </p:cNvSpPr>
          <p:nvPr>
            <p:ph type="body"/>
          </p:nvPr>
        </p:nvSpPr>
        <p:spPr>
          <a:xfrm>
            <a:off x="311760" y="863640"/>
            <a:ext cx="4157640" cy="341604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
        <p:nvSpPr>
          <p:cNvPr id="61" name="PlaceHolder 3"/>
          <p:cNvSpPr>
            <a:spLocks noGrp="1"/>
          </p:cNvSpPr>
          <p:nvPr>
            <p:ph type="body"/>
          </p:nvPr>
        </p:nvSpPr>
        <p:spPr>
          <a:xfrm>
            <a:off x="4677840" y="863640"/>
            <a:ext cx="4157640" cy="162936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
        <p:nvSpPr>
          <p:cNvPr id="62" name="PlaceHolder 4"/>
          <p:cNvSpPr>
            <a:spLocks noGrp="1"/>
          </p:cNvSpPr>
          <p:nvPr>
            <p:ph type="body"/>
          </p:nvPr>
        </p:nvSpPr>
        <p:spPr>
          <a:xfrm>
            <a:off x="4677840" y="2648160"/>
            <a:ext cx="4157640" cy="162936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311760" y="73800"/>
            <a:ext cx="8520120" cy="572400"/>
          </a:xfrm>
          <a:prstGeom prst="rect">
            <a:avLst/>
          </a:prstGeom>
        </p:spPr>
        <p:txBody>
          <a:bodyPr lIns="0" tIns="0" rIns="0" bIns="0" anchor="ctr">
            <a:noAutofit/>
          </a:bodyPr>
          <a:lstStyle/>
          <a:p>
            <a:endParaRPr lang="en-US" sz="1400" b="0" strike="noStrike" spc="-1">
              <a:solidFill>
                <a:srgbClr val="000000"/>
              </a:solidFill>
              <a:latin typeface="Arial" panose="020B0604020202020204"/>
            </a:endParaRPr>
          </a:p>
        </p:txBody>
      </p:sp>
      <p:sp>
        <p:nvSpPr>
          <p:cNvPr id="64" name="PlaceHolder 2"/>
          <p:cNvSpPr>
            <a:spLocks noGrp="1"/>
          </p:cNvSpPr>
          <p:nvPr>
            <p:ph type="body"/>
          </p:nvPr>
        </p:nvSpPr>
        <p:spPr>
          <a:xfrm>
            <a:off x="311760" y="863640"/>
            <a:ext cx="4157640" cy="162936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
        <p:nvSpPr>
          <p:cNvPr id="65" name="PlaceHolder 3"/>
          <p:cNvSpPr>
            <a:spLocks noGrp="1"/>
          </p:cNvSpPr>
          <p:nvPr>
            <p:ph type="body"/>
          </p:nvPr>
        </p:nvSpPr>
        <p:spPr>
          <a:xfrm>
            <a:off x="4677840" y="863640"/>
            <a:ext cx="4157640" cy="162936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
        <p:nvSpPr>
          <p:cNvPr id="66" name="PlaceHolder 4"/>
          <p:cNvSpPr>
            <a:spLocks noGrp="1"/>
          </p:cNvSpPr>
          <p:nvPr>
            <p:ph type="body"/>
          </p:nvPr>
        </p:nvSpPr>
        <p:spPr>
          <a:xfrm>
            <a:off x="311760" y="2648160"/>
            <a:ext cx="8520120" cy="162936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311760" y="73800"/>
            <a:ext cx="8520120" cy="572400"/>
          </a:xfrm>
          <a:prstGeom prst="rect">
            <a:avLst/>
          </a:prstGeom>
        </p:spPr>
        <p:txBody>
          <a:bodyPr lIns="0" tIns="0" rIns="0" bIns="0" anchor="ctr">
            <a:noAutofit/>
          </a:bodyPr>
          <a:lstStyle/>
          <a:p>
            <a:endParaRPr lang="en-US" sz="1400" b="0" strike="noStrike" spc="-1">
              <a:solidFill>
                <a:srgbClr val="000000"/>
              </a:solidFill>
              <a:latin typeface="Arial" panose="020B0604020202020204"/>
            </a:endParaRPr>
          </a:p>
        </p:txBody>
      </p:sp>
      <p:sp>
        <p:nvSpPr>
          <p:cNvPr id="68" name="PlaceHolder 2"/>
          <p:cNvSpPr>
            <a:spLocks noGrp="1"/>
          </p:cNvSpPr>
          <p:nvPr>
            <p:ph type="body"/>
          </p:nvPr>
        </p:nvSpPr>
        <p:spPr>
          <a:xfrm>
            <a:off x="311760" y="863640"/>
            <a:ext cx="8520120" cy="162936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
        <p:nvSpPr>
          <p:cNvPr id="69" name="PlaceHolder 3"/>
          <p:cNvSpPr>
            <a:spLocks noGrp="1"/>
          </p:cNvSpPr>
          <p:nvPr>
            <p:ph type="body"/>
          </p:nvPr>
        </p:nvSpPr>
        <p:spPr>
          <a:xfrm>
            <a:off x="311760" y="2648160"/>
            <a:ext cx="8520120" cy="162936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311760" y="73800"/>
            <a:ext cx="8520120" cy="572400"/>
          </a:xfrm>
          <a:prstGeom prst="rect">
            <a:avLst/>
          </a:prstGeom>
        </p:spPr>
        <p:txBody>
          <a:bodyPr lIns="0" tIns="0" rIns="0" bIns="0" anchor="ctr">
            <a:noAutofit/>
          </a:bodyPr>
          <a:lstStyle/>
          <a:p>
            <a:endParaRPr lang="en-US" sz="1400" b="0" strike="noStrike" spc="-1">
              <a:solidFill>
                <a:srgbClr val="000000"/>
              </a:solidFill>
              <a:latin typeface="Arial" panose="020B0604020202020204"/>
            </a:endParaRPr>
          </a:p>
        </p:txBody>
      </p:sp>
      <p:sp>
        <p:nvSpPr>
          <p:cNvPr id="71" name="PlaceHolder 2"/>
          <p:cNvSpPr>
            <a:spLocks noGrp="1"/>
          </p:cNvSpPr>
          <p:nvPr>
            <p:ph type="body"/>
          </p:nvPr>
        </p:nvSpPr>
        <p:spPr>
          <a:xfrm>
            <a:off x="311760" y="863640"/>
            <a:ext cx="4157640" cy="162936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
        <p:nvSpPr>
          <p:cNvPr id="72" name="PlaceHolder 3"/>
          <p:cNvSpPr>
            <a:spLocks noGrp="1"/>
          </p:cNvSpPr>
          <p:nvPr>
            <p:ph type="body"/>
          </p:nvPr>
        </p:nvSpPr>
        <p:spPr>
          <a:xfrm>
            <a:off x="4677840" y="863640"/>
            <a:ext cx="4157640" cy="162936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
        <p:nvSpPr>
          <p:cNvPr id="73" name="PlaceHolder 4"/>
          <p:cNvSpPr>
            <a:spLocks noGrp="1"/>
          </p:cNvSpPr>
          <p:nvPr>
            <p:ph type="body"/>
          </p:nvPr>
        </p:nvSpPr>
        <p:spPr>
          <a:xfrm>
            <a:off x="311760" y="2648160"/>
            <a:ext cx="4157640" cy="162936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
        <p:nvSpPr>
          <p:cNvPr id="74" name="PlaceHolder 5"/>
          <p:cNvSpPr>
            <a:spLocks noGrp="1"/>
          </p:cNvSpPr>
          <p:nvPr>
            <p:ph type="body"/>
          </p:nvPr>
        </p:nvSpPr>
        <p:spPr>
          <a:xfrm>
            <a:off x="4677840" y="2648160"/>
            <a:ext cx="4157640" cy="162936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311760" y="73800"/>
            <a:ext cx="8520120" cy="572400"/>
          </a:xfrm>
          <a:prstGeom prst="rect">
            <a:avLst/>
          </a:prstGeom>
        </p:spPr>
        <p:txBody>
          <a:bodyPr lIns="0" tIns="0" rIns="0" bIns="0" anchor="ctr">
            <a:noAutofit/>
          </a:bodyPr>
          <a:lstStyle/>
          <a:p>
            <a:endParaRPr lang="en-US" sz="1400" b="0" strike="noStrike" spc="-1">
              <a:solidFill>
                <a:srgbClr val="000000"/>
              </a:solidFill>
              <a:latin typeface="Arial" panose="020B0604020202020204"/>
            </a:endParaRPr>
          </a:p>
        </p:txBody>
      </p:sp>
      <p:sp>
        <p:nvSpPr>
          <p:cNvPr id="76" name="PlaceHolder 2"/>
          <p:cNvSpPr>
            <a:spLocks noGrp="1"/>
          </p:cNvSpPr>
          <p:nvPr>
            <p:ph type="body"/>
          </p:nvPr>
        </p:nvSpPr>
        <p:spPr>
          <a:xfrm>
            <a:off x="311760" y="863640"/>
            <a:ext cx="2743200" cy="162936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
        <p:nvSpPr>
          <p:cNvPr id="77" name="PlaceHolder 3"/>
          <p:cNvSpPr>
            <a:spLocks noGrp="1"/>
          </p:cNvSpPr>
          <p:nvPr>
            <p:ph type="body"/>
          </p:nvPr>
        </p:nvSpPr>
        <p:spPr>
          <a:xfrm>
            <a:off x="3192480" y="863640"/>
            <a:ext cx="2743200" cy="162936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
        <p:nvSpPr>
          <p:cNvPr id="78" name="PlaceHolder 4"/>
          <p:cNvSpPr>
            <a:spLocks noGrp="1"/>
          </p:cNvSpPr>
          <p:nvPr>
            <p:ph type="body"/>
          </p:nvPr>
        </p:nvSpPr>
        <p:spPr>
          <a:xfrm>
            <a:off x="6073200" y="863640"/>
            <a:ext cx="2743200" cy="162936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
        <p:nvSpPr>
          <p:cNvPr id="79" name="PlaceHolder 5"/>
          <p:cNvSpPr>
            <a:spLocks noGrp="1"/>
          </p:cNvSpPr>
          <p:nvPr>
            <p:ph type="body"/>
          </p:nvPr>
        </p:nvSpPr>
        <p:spPr>
          <a:xfrm>
            <a:off x="311760" y="2648160"/>
            <a:ext cx="2743200" cy="162936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
        <p:nvSpPr>
          <p:cNvPr id="80" name="PlaceHolder 6"/>
          <p:cNvSpPr>
            <a:spLocks noGrp="1"/>
          </p:cNvSpPr>
          <p:nvPr>
            <p:ph type="body"/>
          </p:nvPr>
        </p:nvSpPr>
        <p:spPr>
          <a:xfrm>
            <a:off x="3192480" y="2648160"/>
            <a:ext cx="2743200" cy="162936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
        <p:nvSpPr>
          <p:cNvPr id="81" name="PlaceHolder 7"/>
          <p:cNvSpPr>
            <a:spLocks noGrp="1"/>
          </p:cNvSpPr>
          <p:nvPr>
            <p:ph type="body"/>
          </p:nvPr>
        </p:nvSpPr>
        <p:spPr>
          <a:xfrm>
            <a:off x="6073200" y="2648160"/>
            <a:ext cx="2743200" cy="1629360"/>
          </a:xfrm>
          <a:prstGeom prst="rect">
            <a:avLst/>
          </a:prstGeom>
        </p:spPr>
        <p:txBody>
          <a:bodyPr lIns="0" tIns="0" rIns="0" bIns="0">
            <a:normAutofit/>
          </a:bodyPr>
          <a:lstStyle/>
          <a:p>
            <a:endParaRPr lang="en-US" sz="1400" b="0" strike="noStrike" spc="-1">
              <a:solidFill>
                <a:srgbClr val="000000"/>
              </a:solidFill>
              <a:latin typeface="Arial" panose="020B060402020202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522000" y="295804"/>
            <a:ext cx="8100000" cy="594000"/>
          </a:xfrm>
        </p:spPr>
        <p:txBody>
          <a:bodyPr lIns="0" tIns="0" rIns="0" bIns="0"/>
          <a:lstStyle>
            <a:lvl1pPr algn="l" fontAlgn="base">
              <a:defRPr sz="2400">
                <a:solidFill>
                  <a:schemeClr val="tx1">
                    <a:lumMod val="85000"/>
                    <a:lumOff val="15000"/>
                  </a:schemeClr>
                </a:solidFill>
                <a:latin typeface="+mj-lt"/>
              </a:defRPr>
            </a:lvl1pPr>
          </a:lstStyle>
          <a:p>
            <a:r>
              <a:rPr lang="en-US"/>
              <a:t>Click to add title</a:t>
            </a:r>
          </a:p>
        </p:txBody>
      </p:sp>
      <p:sp>
        <p:nvSpPr>
          <p:cNvPr id="3" name="日期占位符 2"/>
          <p:cNvSpPr>
            <a:spLocks noGrp="1"/>
          </p:cNvSpPr>
          <p:nvPr>
            <p:ph type="dt" sz="half" idx="10"/>
            <p:custDataLst>
              <p:tags r:id="rId2"/>
            </p:custDataLst>
          </p:nvPr>
        </p:nvSpPr>
        <p:spPr>
          <a:xfrm>
            <a:off x="459000" y="4735800"/>
            <a:ext cx="2025000" cy="237600"/>
          </a:xfrm>
        </p:spPr>
        <p:txBody>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a:xfrm>
            <a:off x="3087000" y="4735800"/>
            <a:ext cx="2970000" cy="237600"/>
          </a:xfrm>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4"/>
            </p:custDataLst>
          </p:nvPr>
        </p:nvSpPr>
        <p:spPr>
          <a:xfrm>
            <a:off x="6658200" y="4735800"/>
            <a:ext cx="2025000" cy="237600"/>
          </a:xfrm>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050442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pPr defTabSz="685800"/>
            <a:fld id="{10B3A372-BE42-451E-B14C-5FF9C6C0F46F}" type="datetimeFigureOut">
              <a:rPr lang="en-IN" smtClean="0">
                <a:solidFill>
                  <a:prstClr val="black">
                    <a:tint val="75000"/>
                  </a:prstClr>
                </a:solidFill>
              </a:rPr>
              <a:t>07-04-2026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pPr defTabSz="685800"/>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85800"/>
            <a:fld id="{61B8729A-A80B-48B4-A1F8-161E6CCF1013}" type="slidenum">
              <a:rPr lang="en-IN" smtClean="0">
                <a:solidFill>
                  <a:prstClr val="black">
                    <a:tint val="75000"/>
                  </a:prstClr>
                </a:solidFill>
              </a:rPr>
              <a:t>‹#›</a:t>
            </a:fld>
            <a:endParaRPr lang="en-IN">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defTabSz="685800"/>
            <a:fld id="{10B3A372-BE42-451E-B14C-5FF9C6C0F46F}" type="datetimeFigureOut">
              <a:rPr lang="en-IN" smtClean="0">
                <a:solidFill>
                  <a:prstClr val="black">
                    <a:tint val="75000"/>
                  </a:prstClr>
                </a:solidFill>
              </a:rPr>
              <a:t>07-04-2026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pPr defTabSz="685800"/>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85800"/>
            <a:fld id="{61B8729A-A80B-48B4-A1F8-161E6CCF1013}" type="slidenum">
              <a:rPr lang="en-IN" smtClean="0">
                <a:solidFill>
                  <a:prstClr val="black">
                    <a:tint val="75000"/>
                  </a:prstClr>
                </a:solidFill>
              </a:rPr>
              <a:t>‹#›</a:t>
            </a:fld>
            <a:endParaRPr lang="en-IN">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defTabSz="685800"/>
            <a:fld id="{10B3A372-BE42-451E-B14C-5FF9C6C0F46F}" type="datetimeFigureOut">
              <a:rPr lang="en-IN" smtClean="0">
                <a:solidFill>
                  <a:prstClr val="black">
                    <a:tint val="75000"/>
                  </a:prstClr>
                </a:solidFill>
              </a:rPr>
              <a:t>07-04-2026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pPr defTabSz="685800"/>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85800"/>
            <a:fld id="{61B8729A-A80B-48B4-A1F8-161E6CCF1013}" type="slidenum">
              <a:rPr lang="en-IN" smtClean="0">
                <a:solidFill>
                  <a:prstClr val="black">
                    <a:tint val="75000"/>
                  </a:prstClr>
                </a:solidFill>
              </a:rPr>
              <a:t>‹#›</a:t>
            </a:fld>
            <a:endParaRPr lang="en-IN">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pPr defTabSz="685800"/>
            <a:fld id="{10B3A372-BE42-451E-B14C-5FF9C6C0F46F}" type="datetimeFigureOut">
              <a:rPr lang="en-IN" smtClean="0">
                <a:solidFill>
                  <a:prstClr val="black">
                    <a:tint val="75000"/>
                  </a:prstClr>
                </a:solidFill>
              </a:rPr>
              <a:t>07-04-2026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pPr defTabSz="685800"/>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85800"/>
            <a:fld id="{61B8729A-A80B-48B4-A1F8-161E6CCF1013}" type="slidenum">
              <a:rPr lang="en-IN" smtClean="0">
                <a:solidFill>
                  <a:prstClr val="black">
                    <a:tint val="75000"/>
                  </a:prstClr>
                </a:solidFill>
              </a:rPr>
              <a:t>‹#›</a:t>
            </a:fld>
            <a:endParaRPr lang="en-IN">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pPr defTabSz="685800"/>
            <a:fld id="{10B3A372-BE42-451E-B14C-5FF9C6C0F46F}" type="datetimeFigureOut">
              <a:rPr lang="en-IN" smtClean="0">
                <a:solidFill>
                  <a:prstClr val="black">
                    <a:tint val="75000"/>
                  </a:prstClr>
                </a:solidFill>
              </a:rPr>
              <a:t>07-04-2026</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pPr defTabSz="685800"/>
            <a:endParaRPr lang="en-IN">
              <a:solidFill>
                <a:prstClr val="black">
                  <a:tint val="75000"/>
                </a:prstClr>
              </a:solidFill>
            </a:endParaRPr>
          </a:p>
        </p:txBody>
      </p:sp>
      <p:sp>
        <p:nvSpPr>
          <p:cNvPr id="9" name="Slide Number Placeholder 8"/>
          <p:cNvSpPr>
            <a:spLocks noGrp="1"/>
          </p:cNvSpPr>
          <p:nvPr>
            <p:ph type="sldNum" sz="quarter" idx="12"/>
          </p:nvPr>
        </p:nvSpPr>
        <p:spPr/>
        <p:txBody>
          <a:bodyPr/>
          <a:lstStyle/>
          <a:p>
            <a:pPr defTabSz="685800"/>
            <a:fld id="{61B8729A-A80B-48B4-A1F8-161E6CCF1013}" type="slidenum">
              <a:rPr lang="en-IN" smtClean="0">
                <a:solidFill>
                  <a:prstClr val="black">
                    <a:tint val="75000"/>
                  </a:prstClr>
                </a:solidFill>
              </a:rPr>
              <a:t>‹#›</a:t>
            </a:fld>
            <a:endParaRPr lang="en-IN">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pPr defTabSz="685800"/>
            <a:fld id="{10B3A372-BE42-451E-B14C-5FF9C6C0F46F}" type="datetimeFigureOut">
              <a:rPr lang="en-IN" smtClean="0">
                <a:solidFill>
                  <a:prstClr val="black">
                    <a:tint val="75000"/>
                  </a:prstClr>
                </a:solidFill>
              </a:rPr>
              <a:t>07-04-2026</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pPr defTabSz="685800"/>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pPr defTabSz="685800"/>
            <a:fld id="{61B8729A-A80B-48B4-A1F8-161E6CCF1013}" type="slidenum">
              <a:rPr lang="en-IN" smtClean="0">
                <a:solidFill>
                  <a:prstClr val="black">
                    <a:tint val="75000"/>
                  </a:prstClr>
                </a:solidFill>
              </a:rPr>
              <a:t>‹#›</a:t>
            </a:fld>
            <a:endParaRPr lang="en-IN">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85800"/>
            <a:fld id="{10B3A372-BE42-451E-B14C-5FF9C6C0F46F}" type="datetimeFigureOut">
              <a:rPr lang="en-IN" smtClean="0">
                <a:solidFill>
                  <a:prstClr val="black">
                    <a:tint val="75000"/>
                  </a:prstClr>
                </a:solidFill>
              </a:rPr>
              <a:t>07-04-2026</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pPr defTabSz="685800"/>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pPr defTabSz="685800"/>
            <a:fld id="{61B8729A-A80B-48B4-A1F8-161E6CCF1013}" type="slidenum">
              <a:rPr lang="en-IN" smtClean="0">
                <a:solidFill>
                  <a:prstClr val="black">
                    <a:tint val="75000"/>
                  </a:prstClr>
                </a:solidFill>
              </a:rPr>
              <a:t>‹#›</a:t>
            </a:fld>
            <a:endParaRPr lang="en-IN">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defTabSz="685800"/>
            <a:fld id="{10B3A372-BE42-451E-B14C-5FF9C6C0F46F}" type="datetimeFigureOut">
              <a:rPr lang="en-IN" smtClean="0">
                <a:solidFill>
                  <a:prstClr val="black">
                    <a:tint val="75000"/>
                  </a:prstClr>
                </a:solidFill>
              </a:rPr>
              <a:t>07-04-2026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pPr defTabSz="685800"/>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85800"/>
            <a:fld id="{61B8729A-A80B-48B4-A1F8-161E6CCF1013}" type="slidenum">
              <a:rPr lang="en-IN" smtClean="0">
                <a:solidFill>
                  <a:prstClr val="black">
                    <a:tint val="75000"/>
                  </a:prstClr>
                </a:solidFill>
              </a:rPr>
              <a:t>‹#›</a:t>
            </a:fld>
            <a:endParaRPr lang="en-IN">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defTabSz="685800"/>
            <a:fld id="{10B3A372-BE42-451E-B14C-5FF9C6C0F46F}" type="datetimeFigureOut">
              <a:rPr lang="en-IN" smtClean="0">
                <a:solidFill>
                  <a:prstClr val="black">
                    <a:tint val="75000"/>
                  </a:prstClr>
                </a:solidFill>
              </a:rPr>
              <a:t>07-04-2026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pPr defTabSz="685800"/>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85800"/>
            <a:fld id="{61B8729A-A80B-48B4-A1F8-161E6CCF1013}" type="slidenum">
              <a:rPr lang="en-IN" smtClean="0">
                <a:solidFill>
                  <a:prstClr val="black">
                    <a:tint val="75000"/>
                  </a:prstClr>
                </a:solidFill>
              </a:rPr>
              <a:t>‹#›</a:t>
            </a:fld>
            <a:endParaRPr lang="en-IN">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defTabSz="685800"/>
            <a:fld id="{10B3A372-BE42-451E-B14C-5FF9C6C0F46F}" type="datetimeFigureOut">
              <a:rPr lang="en-IN" smtClean="0">
                <a:solidFill>
                  <a:prstClr val="black">
                    <a:tint val="75000"/>
                  </a:prstClr>
                </a:solidFill>
              </a:rPr>
              <a:t>07-04-2026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pPr defTabSz="685800"/>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85800"/>
            <a:fld id="{61B8729A-A80B-48B4-A1F8-161E6CCF1013}" type="slidenum">
              <a:rPr lang="en-IN" smtClean="0">
                <a:solidFill>
                  <a:prstClr val="black">
                    <a:tint val="75000"/>
                  </a:prstClr>
                </a:solidFill>
              </a:rPr>
              <a:t>‹#›</a:t>
            </a:fld>
            <a:endParaRPr lang="en-IN">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defTabSz="685800"/>
            <a:fld id="{10B3A372-BE42-451E-B14C-5FF9C6C0F46F}" type="datetimeFigureOut">
              <a:rPr lang="en-IN" smtClean="0">
                <a:solidFill>
                  <a:prstClr val="black">
                    <a:tint val="75000"/>
                  </a:prstClr>
                </a:solidFill>
              </a:rPr>
              <a:t>07-04-2026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pPr defTabSz="685800"/>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85800"/>
            <a:fld id="{61B8729A-A80B-48B4-A1F8-161E6CCF1013}" type="slidenum">
              <a:rPr lang="en-IN" smtClean="0">
                <a:solidFill>
                  <a:prstClr val="black">
                    <a:tint val="75000"/>
                  </a:prstClr>
                </a:solidFill>
              </a:rPr>
              <a:t>‹#›</a:t>
            </a:fld>
            <a:endParaRPr lang="en-IN">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1" name="Google Shape;6;p1"/>
          <p:cNvPicPr/>
          <p:nvPr/>
        </p:nvPicPr>
        <p:blipFill>
          <a:blip r:embed="rId16"/>
          <a:stretch>
            <a:fillRect/>
          </a:stretch>
        </p:blipFill>
        <p:spPr>
          <a:xfrm>
            <a:off x="5760" y="2160"/>
            <a:ext cx="9132120" cy="5139000"/>
          </a:xfrm>
          <a:prstGeom prst="rect">
            <a:avLst/>
          </a:prstGeom>
          <a:ln>
            <a:noFill/>
          </a:ln>
        </p:spPr>
      </p:pic>
      <p:pic>
        <p:nvPicPr>
          <p:cNvPr id="42" name="Google Shape;7;p1"/>
          <p:cNvPicPr/>
          <p:nvPr/>
        </p:nvPicPr>
        <p:blipFill>
          <a:blip r:embed="rId17"/>
          <a:stretch>
            <a:fillRect/>
          </a:stretch>
        </p:blipFill>
        <p:spPr>
          <a:xfrm>
            <a:off x="-12960" y="-2160"/>
            <a:ext cx="9151200" cy="5143320"/>
          </a:xfrm>
          <a:prstGeom prst="rect">
            <a:avLst/>
          </a:prstGeom>
          <a:ln>
            <a:noFill/>
          </a:ln>
        </p:spPr>
      </p:pic>
      <p:pic>
        <p:nvPicPr>
          <p:cNvPr id="43" name="Google Shape;10;p1"/>
          <p:cNvPicPr/>
          <p:nvPr/>
        </p:nvPicPr>
        <p:blipFill>
          <a:blip r:embed="rId18"/>
          <a:stretch>
            <a:fillRect/>
          </a:stretch>
        </p:blipFill>
        <p:spPr>
          <a:xfrm>
            <a:off x="7363440" y="148680"/>
            <a:ext cx="1495080" cy="371160"/>
          </a:xfrm>
          <a:prstGeom prst="rect">
            <a:avLst/>
          </a:prstGeom>
          <a:ln>
            <a:noFill/>
          </a:ln>
        </p:spPr>
      </p:pic>
      <p:sp>
        <p:nvSpPr>
          <p:cNvPr id="44" name="PlaceHolder 1"/>
          <p:cNvSpPr>
            <a:spLocks noGrp="1"/>
          </p:cNvSpPr>
          <p:nvPr>
            <p:ph type="title"/>
          </p:nvPr>
        </p:nvSpPr>
        <p:spPr>
          <a:xfrm>
            <a:off x="311760" y="73800"/>
            <a:ext cx="8520120" cy="572400"/>
          </a:xfrm>
          <a:prstGeom prst="rect">
            <a:avLst/>
          </a:prstGeom>
        </p:spPr>
        <p:txBody>
          <a:bodyPr tIns="91440" bIns="91440">
            <a:normAutofit/>
          </a:bodyPr>
          <a:lstStyle/>
          <a:p>
            <a:pPr algn="ctr"/>
            <a:r>
              <a:rPr lang="en-US" sz="2300" b="0" strike="noStrike" spc="-1">
                <a:solidFill>
                  <a:srgbClr val="000000"/>
                </a:solidFill>
                <a:latin typeface="Arial" panose="020B0604020202020204"/>
              </a:rPr>
              <a:t>Click to edit the title text format</a:t>
            </a:r>
          </a:p>
        </p:txBody>
      </p:sp>
      <p:sp>
        <p:nvSpPr>
          <p:cNvPr id="45" name="PlaceHolder 2"/>
          <p:cNvSpPr>
            <a:spLocks noGrp="1"/>
          </p:cNvSpPr>
          <p:nvPr>
            <p:ph type="body"/>
          </p:nvPr>
        </p:nvSpPr>
        <p:spPr>
          <a:xfrm>
            <a:off x="311760" y="863640"/>
            <a:ext cx="8520120" cy="3416040"/>
          </a:xfrm>
          <a:prstGeom prst="rect">
            <a:avLst/>
          </a:prstGeom>
        </p:spPr>
        <p:txBody>
          <a:bodyPr tIns="91440" bIns="91440">
            <a:normAutofit/>
          </a:bodyPr>
          <a:lstStyle/>
          <a:p>
            <a:pPr marL="431800" indent="-323850" algn="ctr">
              <a:spcBef>
                <a:spcPts val="1415"/>
              </a:spcBef>
              <a:buClr>
                <a:srgbClr val="000000"/>
              </a:buClr>
              <a:buSzPct val="45000"/>
              <a:buFont typeface="Wingdings" panose="05000000000000000000" pitchFamily="2" charset="2"/>
              <a:buChar char=""/>
            </a:pPr>
            <a:r>
              <a:rPr lang="en-US" sz="1800" b="0" strike="noStrike" spc="-1">
                <a:solidFill>
                  <a:srgbClr val="000000"/>
                </a:solidFill>
                <a:latin typeface="Arial" panose="020B0604020202020204"/>
              </a:rPr>
              <a:t>Click to edit the outline text format</a:t>
            </a:r>
          </a:p>
          <a:p>
            <a:pPr marL="864235" lvl="1" indent="-323850" algn="ctr">
              <a:spcBef>
                <a:spcPts val="1135"/>
              </a:spcBef>
              <a:buClr>
                <a:srgbClr val="000000"/>
              </a:buClr>
              <a:buSzPct val="75000"/>
              <a:buFont typeface="Symbol" panose="05050102010706020507" charset="2"/>
              <a:buChar char=""/>
            </a:pPr>
            <a:r>
              <a:rPr lang="en-US" sz="1800" b="0" strike="noStrike" spc="-1">
                <a:solidFill>
                  <a:srgbClr val="000000"/>
                </a:solidFill>
                <a:latin typeface="Arial" panose="020B0604020202020204"/>
              </a:rPr>
              <a:t>Second Outline Level</a:t>
            </a:r>
          </a:p>
          <a:p>
            <a:pPr marL="1296035" lvl="2" indent="-288290" algn="ctr">
              <a:spcBef>
                <a:spcPts val="850"/>
              </a:spcBef>
              <a:buClr>
                <a:srgbClr val="000000"/>
              </a:buClr>
              <a:buSzPct val="45000"/>
              <a:buFont typeface="Wingdings" panose="05000000000000000000" pitchFamily="2" charset="2"/>
              <a:buChar char=""/>
            </a:pPr>
            <a:r>
              <a:rPr lang="en-US" sz="1800" b="0" strike="noStrike" spc="-1">
                <a:solidFill>
                  <a:srgbClr val="000000"/>
                </a:solidFill>
                <a:latin typeface="Arial" panose="020B0604020202020204"/>
              </a:rPr>
              <a:t>Third Outline Level</a:t>
            </a:r>
          </a:p>
          <a:p>
            <a:pPr marL="1727835" lvl="3" indent="-215900" algn="ctr">
              <a:spcBef>
                <a:spcPts val="565"/>
              </a:spcBef>
              <a:buClr>
                <a:srgbClr val="000000"/>
              </a:buClr>
              <a:buSzPct val="75000"/>
              <a:buFont typeface="Symbol" panose="05050102010706020507" charset="2"/>
              <a:buChar char=""/>
            </a:pPr>
            <a:r>
              <a:rPr lang="en-US" sz="1800" b="0" strike="noStrike" spc="-1">
                <a:solidFill>
                  <a:srgbClr val="000000"/>
                </a:solidFill>
                <a:latin typeface="Arial" panose="020B0604020202020204"/>
              </a:rPr>
              <a:t>Fourth Outline Level</a:t>
            </a:r>
          </a:p>
          <a:p>
            <a:pPr marL="2160270" lvl="4" indent="-215900" algn="ctr">
              <a:spcBef>
                <a:spcPts val="285"/>
              </a:spcBef>
              <a:buClr>
                <a:srgbClr val="000000"/>
              </a:buClr>
              <a:buSzPct val="45000"/>
              <a:buFont typeface="Wingdings" panose="05000000000000000000" pitchFamily="2" charset="2"/>
              <a:buChar char=""/>
            </a:pPr>
            <a:r>
              <a:rPr lang="en-US" sz="1800" b="0" strike="noStrike" spc="-1">
                <a:solidFill>
                  <a:srgbClr val="000000"/>
                </a:solidFill>
                <a:latin typeface="Arial" panose="020B0604020202020204"/>
              </a:rPr>
              <a:t>Fifth Outline Level</a:t>
            </a:r>
          </a:p>
          <a:p>
            <a:pPr marL="2592070" lvl="5" indent="-215900" algn="ctr">
              <a:spcBef>
                <a:spcPts val="285"/>
              </a:spcBef>
              <a:buClr>
                <a:srgbClr val="000000"/>
              </a:buClr>
              <a:buSzPct val="45000"/>
              <a:buFont typeface="Wingdings" panose="05000000000000000000" pitchFamily="2" charset="2"/>
              <a:buChar char=""/>
            </a:pPr>
            <a:r>
              <a:rPr lang="en-US" sz="1800" b="0" strike="noStrike" spc="-1">
                <a:solidFill>
                  <a:srgbClr val="000000"/>
                </a:solidFill>
                <a:latin typeface="Arial" panose="020B0604020202020204"/>
              </a:rPr>
              <a:t>Sixth Outline Level</a:t>
            </a:r>
          </a:p>
          <a:p>
            <a:pPr marL="3023870" lvl="6" indent="-215900" algn="ctr">
              <a:spcBef>
                <a:spcPts val="285"/>
              </a:spcBef>
              <a:buClr>
                <a:srgbClr val="000000"/>
              </a:buClr>
              <a:buSzPct val="45000"/>
              <a:buFont typeface="Wingdings" panose="05000000000000000000" pitchFamily="2" charset="2"/>
              <a:buChar char=""/>
            </a:pPr>
            <a:r>
              <a:rPr lang="en-US" sz="1800" b="0" strike="noStrike" spc="-1">
                <a:solidFill>
                  <a:srgbClr val="000000"/>
                </a:solidFill>
                <a:latin typeface="Arial" panose="020B0604020202020204"/>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87"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pPr defTabSz="685800"/>
            <a:fld id="{10B3A372-BE42-451E-B14C-5FF9C6C0F46F}" type="datetimeFigureOut">
              <a:rPr lang="en-IN" smtClean="0">
                <a:solidFill>
                  <a:prstClr val="black">
                    <a:tint val="75000"/>
                  </a:prstClr>
                </a:solidFill>
              </a:rPr>
              <a:t>07-04-2026</a:t>
            </a:fld>
            <a:endParaRPr lang="en-IN">
              <a:solidFill>
                <a:prstClr val="black">
                  <a:tint val="75000"/>
                </a:prstClr>
              </a:solidFill>
            </a:endParaRPr>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pPr defTabSz="685800"/>
            <a:endParaRPr lang="en-IN">
              <a:solidFill>
                <a:prstClr val="black">
                  <a:tint val="75000"/>
                </a:prstClr>
              </a:solidFill>
            </a:endParaRP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defTabSz="685800"/>
            <a:fld id="{61B8729A-A80B-48B4-A1F8-161E6CCF1013}" type="slidenum">
              <a:rPr lang="en-IN" smtClean="0">
                <a:solidFill>
                  <a:prstClr val="black">
                    <a:tint val="75000"/>
                  </a:prstClr>
                </a:solidFill>
              </a:rPr>
              <a:t>‹#›</a:t>
            </a:fld>
            <a:endParaRPr lang="en-IN">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CustomShape 1"/>
          <p:cNvSpPr/>
          <p:nvPr/>
        </p:nvSpPr>
        <p:spPr>
          <a:xfrm>
            <a:off x="434027" y="3005914"/>
            <a:ext cx="3758587" cy="2185214"/>
          </a:xfrm>
          <a:prstGeom prst="rect">
            <a:avLst/>
          </a:prstGeom>
          <a:noFill/>
          <a:ln>
            <a:noFill/>
          </a:ln>
        </p:spPr>
        <p:style>
          <a:lnRef idx="0">
            <a:scrgbClr r="0" g="0" b="0"/>
          </a:lnRef>
          <a:fillRef idx="0">
            <a:scrgbClr r="0" g="0" b="0"/>
          </a:fillRef>
          <a:effectRef idx="0">
            <a:scrgbClr r="0" g="0" b="0"/>
          </a:effectRef>
          <a:fontRef idx="minor"/>
        </p:style>
        <p:txBody>
          <a:bodyPr wrap="square">
            <a:spAutoFit/>
          </a:bodyPr>
          <a:lstStyle/>
          <a:p>
            <a:pPr>
              <a:lnSpc>
                <a:spcPct val="100000"/>
              </a:lnSpc>
            </a:pPr>
            <a:r>
              <a:rPr lang="en-US" sz="1500" spc="-1" dirty="0">
                <a:solidFill>
                  <a:schemeClr val="tx1">
                    <a:lumMod val="95000"/>
                    <a:lumOff val="5000"/>
                  </a:schemeClr>
                </a:solidFill>
                <a:latin typeface="Times New Roman" panose="02020603050405020304" pitchFamily="18" charset="0"/>
                <a:ea typeface="Proxima Nova"/>
                <a:cs typeface="Times New Roman" panose="02020603050405020304" pitchFamily="18" charset="0"/>
              </a:rPr>
              <a:t>Presented By – DEEPAK BOMMANA, AASAM BHANUPRAKASH REDDY, </a:t>
            </a:r>
            <a:r>
              <a:rPr lang="fi-FI" sz="1500" spc="-1" dirty="0">
                <a:solidFill>
                  <a:schemeClr val="tx1">
                    <a:lumMod val="95000"/>
                    <a:lumOff val="5000"/>
                  </a:schemeClr>
                </a:solidFill>
                <a:latin typeface="Times New Roman" panose="02020603050405020304" pitchFamily="18" charset="0"/>
                <a:ea typeface="Proxima Nova"/>
                <a:cs typeface="Times New Roman" panose="02020603050405020304" pitchFamily="18" charset="0"/>
              </a:rPr>
              <a:t>MAVILLAPALLI M V SRI VIGNESWAR</a:t>
            </a:r>
            <a:r>
              <a:rPr lang="en-US" sz="1500" spc="-1" dirty="0">
                <a:solidFill>
                  <a:schemeClr val="tx1">
                    <a:lumMod val="95000"/>
                    <a:lumOff val="5000"/>
                  </a:schemeClr>
                </a:solidFill>
                <a:latin typeface="Times New Roman" panose="02020603050405020304" pitchFamily="18" charset="0"/>
                <a:ea typeface="Proxima Nova"/>
                <a:cs typeface="Times New Roman" panose="02020603050405020304" pitchFamily="18" charset="0"/>
              </a:rPr>
              <a:t>,</a:t>
            </a:r>
            <a:r>
              <a:rPr lang="fi-FI" sz="1500" spc="-1" dirty="0">
                <a:solidFill>
                  <a:schemeClr val="tx1">
                    <a:lumMod val="95000"/>
                    <a:lumOff val="5000"/>
                  </a:schemeClr>
                </a:solidFill>
                <a:latin typeface="Times New Roman" panose="02020603050405020304" pitchFamily="18" charset="0"/>
                <a:ea typeface="Proxima Nova"/>
                <a:cs typeface="Times New Roman" panose="02020603050405020304" pitchFamily="18" charset="0"/>
              </a:rPr>
              <a:t> SAI KRISHNA PUDI</a:t>
            </a:r>
          </a:p>
          <a:p>
            <a:pPr>
              <a:lnSpc>
                <a:spcPct val="100000"/>
              </a:lnSpc>
            </a:pPr>
            <a:r>
              <a:rPr lang="fi-FI" sz="1500" spc="-1" dirty="0">
                <a:solidFill>
                  <a:schemeClr val="tx1">
                    <a:lumMod val="95000"/>
                    <a:lumOff val="5000"/>
                  </a:schemeClr>
                </a:solidFill>
                <a:latin typeface="Times New Roman" panose="02020603050405020304" pitchFamily="18" charset="0"/>
                <a:ea typeface="Proxima Nova"/>
                <a:cs typeface="Times New Roman" panose="02020603050405020304" pitchFamily="18" charset="0"/>
              </a:rPr>
              <a:t> </a:t>
            </a:r>
            <a:r>
              <a:rPr lang="en-IN" altLang="en-US" sz="1500" spc="-1" dirty="0">
                <a:solidFill>
                  <a:schemeClr val="tx1">
                    <a:lumMod val="95000"/>
                    <a:lumOff val="5000"/>
                  </a:schemeClr>
                </a:solidFill>
                <a:latin typeface="Times New Roman" panose="02020603050405020304" pitchFamily="18" charset="0"/>
                <a:cs typeface="Times New Roman" panose="02020603050405020304" pitchFamily="18" charset="0"/>
              </a:rPr>
              <a:t>Project Name /Company Name </a:t>
            </a:r>
            <a:r>
              <a:rPr lang="en-IN" altLang="en-US" sz="1500" spc="-1" dirty="0">
                <a:solidFill>
                  <a:srgbClr val="565656"/>
                </a:solidFill>
                <a:latin typeface="Times New Roman" panose="02020603050405020304" pitchFamily="18" charset="0"/>
                <a:cs typeface="Times New Roman" panose="02020603050405020304" pitchFamily="18" charset="0"/>
              </a:rPr>
              <a:t>:</a:t>
            </a:r>
            <a:r>
              <a:rPr lang="nb-NO" sz="1400" dirty="0"/>
              <a:t>GA-based Hyperparameter Optimizer for KNN and SVM</a:t>
            </a:r>
            <a:endParaRPr lang="en-IN" altLang="en-US" sz="1400" spc="-1" dirty="0">
              <a:solidFill>
                <a:srgbClr val="565656"/>
              </a:solidFill>
              <a:latin typeface="Times New Roman" panose="02020603050405020304" pitchFamily="18" charset="0"/>
              <a:cs typeface="Times New Roman" panose="02020603050405020304" pitchFamily="18" charset="0"/>
            </a:endParaRPr>
          </a:p>
          <a:p>
            <a:r>
              <a:rPr lang="en-US" sz="1500" spc="-1" dirty="0">
                <a:solidFill>
                  <a:schemeClr val="tx1">
                    <a:lumMod val="95000"/>
                    <a:lumOff val="5000"/>
                  </a:schemeClr>
                </a:solidFill>
                <a:latin typeface="Times New Roman" panose="02020603050405020304" pitchFamily="18" charset="0"/>
                <a:ea typeface="Proxima Nova"/>
                <a:cs typeface="Times New Roman" panose="02020603050405020304" pitchFamily="18" charset="0"/>
              </a:rPr>
              <a:t>Mentor/ Guide Name</a:t>
            </a:r>
            <a:r>
              <a:rPr lang="en-US" sz="1500" spc="-1" dirty="0">
                <a:solidFill>
                  <a:srgbClr val="565656"/>
                </a:solidFill>
                <a:latin typeface="Times New Roman" panose="02020603050405020304" pitchFamily="18" charset="0"/>
                <a:ea typeface="Proxima Nova"/>
                <a:cs typeface="Times New Roman" panose="02020603050405020304" pitchFamily="18" charset="0"/>
              </a:rPr>
              <a:t>:</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PROF. JAGARLAMUDI SAAI PAVAN</a:t>
            </a:r>
            <a:endParaRPr lang="en-US" sz="1600" spc="-1" dirty="0">
              <a:solidFill>
                <a:schemeClr val="tx1">
                  <a:lumMod val="95000"/>
                  <a:lumOff val="5000"/>
                </a:schemeClr>
              </a:solidFill>
              <a:latin typeface="Times New Roman" panose="02020603050405020304" pitchFamily="18" charset="0"/>
              <a:ea typeface="Proxima Nova"/>
              <a:cs typeface="Times New Roman" panose="02020603050405020304" pitchFamily="18" charset="0"/>
            </a:endParaRPr>
          </a:p>
          <a:p>
            <a:pPr>
              <a:lnSpc>
                <a:spcPct val="100000"/>
              </a:lnSpc>
            </a:pPr>
            <a:endParaRPr lang="en-IN" altLang="en-US" sz="1500" spc="-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199706" y="105104"/>
            <a:ext cx="2299091" cy="707886"/>
          </a:xfrm>
          <a:prstGeom prst="rect">
            <a:avLst/>
          </a:prstGeom>
          <a:noFill/>
        </p:spPr>
        <p:txBody>
          <a:bodyPr wrap="none" rtlCol="0">
            <a:spAutoFit/>
          </a:bodyPr>
          <a:lstStyle/>
          <a:p>
            <a:r>
              <a:rPr lang="en-IN" sz="2000" b="1" dirty="0"/>
              <a:t>Major Project – II () </a:t>
            </a:r>
          </a:p>
          <a:p>
            <a:r>
              <a:rPr lang="en-IN" sz="2000" b="1" dirty="0"/>
              <a:t>Review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5" dirty="0"/>
              <a:t>Contents</a:t>
            </a:r>
            <a:endParaRPr spc="-5" dirty="0"/>
          </a:p>
        </p:txBody>
      </p:sp>
      <p:sp>
        <p:nvSpPr>
          <p:cNvPr id="4" name="object 4"/>
          <p:cNvSpPr txBox="1"/>
          <p:nvPr/>
        </p:nvSpPr>
        <p:spPr>
          <a:xfrm>
            <a:off x="1167319" y="1759490"/>
            <a:ext cx="4578849" cy="487954"/>
          </a:xfrm>
          <a:prstGeom prst="rect">
            <a:avLst/>
          </a:prstGeom>
        </p:spPr>
        <p:txBody>
          <a:bodyPr vert="horz" wrap="square" lIns="0" tIns="178435" rIns="0" bIns="0" rtlCol="0">
            <a:spAutoFit/>
          </a:bodyPr>
          <a:lstStyle/>
          <a:p>
            <a:pPr marL="12700">
              <a:lnSpc>
                <a:spcPct val="100000"/>
              </a:lnSpc>
              <a:spcBef>
                <a:spcPts val="1405"/>
              </a:spcBef>
            </a:pPr>
            <a:endParaRPr sz="2000" dirty="0">
              <a:latin typeface="Times New Roman"/>
              <a:cs typeface="Times New Roman"/>
            </a:endParaRPr>
          </a:p>
        </p:txBody>
      </p:sp>
      <p:pic>
        <p:nvPicPr>
          <p:cNvPr id="3" name="Picture 2">
            <a:extLst>
              <a:ext uri="{FF2B5EF4-FFF2-40B4-BE49-F238E27FC236}">
                <a16:creationId xmlns:a16="http://schemas.microsoft.com/office/drawing/2014/main" id="{FF348C52-369D-AF7D-155E-3493F4229F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89076" y="41166"/>
            <a:ext cx="1794969" cy="595628"/>
          </a:xfrm>
          <a:prstGeom prst="rect">
            <a:avLst/>
          </a:prstGeom>
        </p:spPr>
      </p:pic>
      <p:sp>
        <p:nvSpPr>
          <p:cNvPr id="8" name="Rectangle 3">
            <a:extLst>
              <a:ext uri="{FF2B5EF4-FFF2-40B4-BE49-F238E27FC236}">
                <a16:creationId xmlns:a16="http://schemas.microsoft.com/office/drawing/2014/main" id="{129B9ABC-9949-CAFC-D0D3-D9E12D19A1CE}"/>
              </a:ext>
            </a:extLst>
          </p:cNvPr>
          <p:cNvSpPr>
            <a:spLocks noGrp="1" noChangeArrowheads="1"/>
          </p:cNvSpPr>
          <p:nvPr>
            <p:ph type="subTitle"/>
          </p:nvPr>
        </p:nvSpPr>
        <p:spPr bwMode="auto">
          <a:xfrm>
            <a:off x="311760" y="725000"/>
            <a:ext cx="4907113"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Arial" panose="020B0604020202020204" pitchFamily="34" charset="0"/>
              </a:rPr>
              <a:t>Project / Problem Identification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Arial" panose="020B0604020202020204" pitchFamily="34" charset="0"/>
              </a:rPr>
              <a:t>Abstract</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i="0" u="none" strike="noStrike" cap="none" normalizeH="0" baseline="0" dirty="0">
                <a:ln>
                  <a:noFill/>
                </a:ln>
                <a:solidFill>
                  <a:schemeClr val="tx1"/>
                </a:solidFill>
                <a:effectLst/>
                <a:latin typeface="Arial" panose="020B0604020202020204" pitchFamily="34" charset="0"/>
              </a:rPr>
              <a:t>Introduction</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Arial" panose="020B0604020202020204" pitchFamily="34" charset="0"/>
              </a:rPr>
              <a:t>Functionality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lang="en-US" altLang="en-US" sz="2400" dirty="0">
                <a:latin typeface="Arial" panose="020B0604020202020204" pitchFamily="34" charset="0"/>
              </a:rPr>
              <a:t>implementation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Arial" panose="020B0604020202020204" pitchFamily="34" charset="0"/>
              </a:rPr>
              <a:t>Project Analysis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Arial" panose="020B0604020202020204" pitchFamily="34" charset="0"/>
              </a:rPr>
              <a:t>Literature Review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Arial" panose="020B0604020202020204" pitchFamily="34" charset="0"/>
              </a:rPr>
              <a:t>Result</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lang="en-US" altLang="en-US" sz="2400" dirty="0">
                <a:latin typeface="Arial" panose="020B0604020202020204" pitchFamily="34" charset="0"/>
              </a:rPr>
              <a:t>conclusion</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512D3-994E-0830-A738-FD61D85DDC0E}"/>
              </a:ext>
            </a:extLst>
          </p:cNvPr>
          <p:cNvSpPr>
            <a:spLocks noGrp="1"/>
          </p:cNvSpPr>
          <p:nvPr>
            <p:ph type="title"/>
          </p:nvPr>
        </p:nvSpPr>
        <p:spPr/>
        <p:txBody>
          <a:bodyPr/>
          <a:lstStyle/>
          <a:p>
            <a:r>
              <a:rPr lang="en-IN" sz="2800" dirty="0"/>
              <a:t>Project / Problem Identification</a:t>
            </a:r>
          </a:p>
        </p:txBody>
      </p:sp>
      <p:sp>
        <p:nvSpPr>
          <p:cNvPr id="3" name="Subtitle 2">
            <a:extLst>
              <a:ext uri="{FF2B5EF4-FFF2-40B4-BE49-F238E27FC236}">
                <a16:creationId xmlns:a16="http://schemas.microsoft.com/office/drawing/2014/main" id="{4FD28759-3D8C-F4F5-4163-253387397548}"/>
              </a:ext>
            </a:extLst>
          </p:cNvPr>
          <p:cNvSpPr>
            <a:spLocks noGrp="1"/>
          </p:cNvSpPr>
          <p:nvPr>
            <p:ph type="subTitle"/>
          </p:nvPr>
        </p:nvSpPr>
        <p:spPr>
          <a:xfrm>
            <a:off x="311760" y="73799"/>
            <a:ext cx="8520120" cy="4995901"/>
          </a:xfrm>
        </p:spPr>
        <p:txBody>
          <a:bodyPr/>
          <a:lstStyle/>
          <a:p>
            <a:r>
              <a:rPr lang="en-US" sz="1800" b="1" dirty="0"/>
              <a:t>Problem Statement:</a:t>
            </a:r>
          </a:p>
          <a:p>
            <a:r>
              <a:rPr lang="en-US" sz="1800" dirty="0"/>
              <a:t>Use a Genetic Algorithm to automatically discover the best hyperparameters (K for KNN, C and gamma for SVM) by encoding them as chromosomes and evolving a population using classification accuracy as the fitness function over 50 generations. </a:t>
            </a:r>
            <a:endParaRPr lang="en-US" sz="1800" b="1" dirty="0"/>
          </a:p>
          <a:p>
            <a:endParaRPr lang="en-US" sz="1800" b="1" dirty="0"/>
          </a:p>
          <a:p>
            <a:r>
              <a:rPr lang="en-US" sz="1800" b="1" dirty="0"/>
              <a:t>Issues:</a:t>
            </a:r>
          </a:p>
          <a:p>
            <a:r>
              <a:rPr lang="en-US" sz="1800" dirty="0"/>
              <a:t>Manual tuning is inefficient </a:t>
            </a:r>
          </a:p>
          <a:p>
            <a:r>
              <a:rPr lang="en-US" sz="1800" dirty="0"/>
              <a:t>Grid search is computationally expensive </a:t>
            </a:r>
          </a:p>
          <a:p>
            <a:r>
              <a:rPr lang="en-US" sz="1800" dirty="0"/>
              <a:t>Random search lacks direction </a:t>
            </a:r>
          </a:p>
          <a:p>
            <a:r>
              <a:rPr lang="en-US" sz="1800" b="1" dirty="0"/>
              <a:t>Solution:</a:t>
            </a:r>
          </a:p>
          <a:p>
            <a:r>
              <a:rPr lang="en-US" sz="1800" dirty="0"/>
              <a:t>Use </a:t>
            </a:r>
            <a:r>
              <a:rPr lang="en-US" sz="1800" b="1" dirty="0"/>
              <a:t>Genetic Algorithm (GA)</a:t>
            </a:r>
            <a:r>
              <a:rPr lang="en-US" sz="1800" dirty="0"/>
              <a:t> to automatically find optimal hyperparameters</a:t>
            </a:r>
          </a:p>
          <a:p>
            <a:endParaRPr lang="en-IN" dirty="0"/>
          </a:p>
        </p:txBody>
      </p:sp>
    </p:spTree>
    <p:extLst>
      <p:ext uri="{BB962C8B-B14F-4D97-AF65-F5344CB8AC3E}">
        <p14:creationId xmlns:p14="http://schemas.microsoft.com/office/powerpoint/2010/main" val="1783905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b="1" dirty="0">
                <a:latin typeface="Times New Roman" panose="02020603050405020304" pitchFamily="18" charset="0"/>
                <a:cs typeface="Times New Roman" panose="02020603050405020304" pitchFamily="18" charset="0"/>
              </a:rPr>
              <a:t>Abstract	</a:t>
            </a:r>
          </a:p>
        </p:txBody>
      </p:sp>
      <p:sp>
        <p:nvSpPr>
          <p:cNvPr id="3" name="Text Placeholder 2"/>
          <p:cNvSpPr>
            <a:spLocks noGrp="1"/>
          </p:cNvSpPr>
          <p:nvPr>
            <p:ph type="body"/>
          </p:nvPr>
        </p:nvSpPr>
        <p:spPr>
          <a:xfrm>
            <a:off x="311760" y="942534"/>
            <a:ext cx="8520120" cy="3415457"/>
          </a:xfrm>
        </p:spPr>
        <p:txBody>
          <a:bodyPr>
            <a:noAutofit/>
          </a:bodyPr>
          <a:lstStyle/>
          <a:p>
            <a:r>
              <a:rPr lang="en-US" sz="1600" dirty="0"/>
              <a:t>Hyperparameter tuning is a critical step in improving the performance of machine learning models. Traditional methods such as Grid Search and Random Search are often time-consuming and may not efficiently explore the search space. This project proposes the use of a Genetic Algorithm (GA) to automatically optimize the hyperparameters of K-Nearest Neighbors (KNN) and Support Vector Machine (SVM) models.</a:t>
            </a:r>
          </a:p>
          <a:p>
            <a:r>
              <a:rPr lang="en-US" sz="1600" dirty="0"/>
              <a:t>In this approach, hyperparameters such as K (for KNN) and C and gamma (for SVM) are encoded as chromosomes. A population of solutions is evolved over 50 generations using genetic operations like selection, crossover, and mutation. The fitness of each solution is evaluated using classification accuracy.</a:t>
            </a:r>
          </a:p>
          <a:p>
            <a:r>
              <a:rPr lang="en-US" sz="1600" dirty="0"/>
              <a:t>The results demonstrate that the Genetic Algorithm effectively identifies optimal parameter values and improves model performance. This approach reduces manual effort, enhances accuracy, and provides an efficient solution for hyperparameter optimization in machine learning.</a:t>
            </a:r>
          </a:p>
          <a:p>
            <a:pPr marL="285750" indent="-285750" algn="just">
              <a:buFont typeface="Arial" panose="020B0604020202020204" pitchFamily="34" charset="0"/>
              <a:buChar char="•"/>
            </a:pP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89076" y="41166"/>
            <a:ext cx="1794969" cy="5956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spc="-5" dirty="0">
                <a:latin typeface="Times New Roman" panose="02020603050405020304" pitchFamily="18" charset="0"/>
                <a:ea typeface="Calibri" panose="020F0502020204030204" pitchFamily="34" charset="0"/>
                <a:cs typeface="Times New Roman" panose="02020603050405020304" pitchFamily="18" charset="0"/>
              </a:rPr>
              <a:t>Introduction</a:t>
            </a:r>
            <a:endParaRPr lang="en-US" altLang="en-GB" sz="2400" b="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Text Placeholder 2"/>
          <p:cNvSpPr>
            <a:spLocks noGrp="1"/>
          </p:cNvSpPr>
          <p:nvPr>
            <p:ph type="body"/>
          </p:nvPr>
        </p:nvSpPr>
        <p:spPr>
          <a:xfrm>
            <a:off x="311760" y="678833"/>
            <a:ext cx="8520120" cy="4022869"/>
          </a:xfrm>
        </p:spPr>
        <p:txBody>
          <a:bodyPr>
            <a:noAutofit/>
          </a:bodyPr>
          <a:lstStyle/>
          <a:p>
            <a:r>
              <a:rPr lang="en-US" sz="1400" dirty="0"/>
              <a:t>Machine Learning (ML) has become an essential tool in solving complex real-world problems such as classification, prediction, and pattern recognition. The performance of machine learning models largely depends on the selection of appropriate hyperparameters. Hyperparameters are configuration settings that control the learning process, such as the number of neighbors in K-Nearest Neighbors (KNN) and parameters like C and gamma in Support Vector Machines (SVM).</a:t>
            </a:r>
          </a:p>
          <a:p>
            <a:r>
              <a:rPr lang="en-US" sz="1400" dirty="0"/>
              <a:t>Traditionally, hyperparameter tuning is performed manually or using methods like Grid Search and Random Search. However, these approaches are time-consuming and may not always produce optimal results, especially when the search space is large. Therefore, there is a need for an efficient and automated method for hyperparameter optimization.</a:t>
            </a:r>
          </a:p>
          <a:p>
            <a:r>
              <a:rPr lang="en-US" sz="1400" dirty="0"/>
              <a:t>Genetic Algorithms (GA), inspired by the process of natural selection, provide a powerful optimization technique. They work by evolving a population of candidate solutions through operations such as selection, crossover, and mutation. GA is capable of exploring a wide search space and finding near-optimal solutions efficiently.</a:t>
            </a:r>
          </a:p>
          <a:p>
            <a:r>
              <a:rPr lang="en-US" sz="1400" dirty="0"/>
              <a:t>In this project, a Genetic Algorithm is used to optimize the hyperparameters of KNN and SVM models. The algorithm encodes model parameters as chromosomes and evaluates them using classification accuracy as a fitness function over multiple generations. The objective is to automatically identify the best model and parameter combination that yields the highest accuracy.</a:t>
            </a:r>
          </a:p>
          <a:p>
            <a:r>
              <a:rPr lang="en-US" sz="1400" dirty="0"/>
              <a:t>This approach reduces manual effort, improves model performance, and demonstrates the effectiveness of evolutionary algorithms in machine learning optimization tasks.</a:t>
            </a:r>
          </a:p>
          <a:p>
            <a:pPr algn="just">
              <a:lnSpc>
                <a:spcPct val="100000"/>
              </a:lnSpc>
            </a:pPr>
            <a:endParaRPr lang="en-US" altLang="en-GB" sz="11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89076" y="41166"/>
            <a:ext cx="1794969" cy="59562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F78D3-F8A0-738E-0653-F572A4C17B28}"/>
              </a:ext>
            </a:extLst>
          </p:cNvPr>
          <p:cNvSpPr>
            <a:spLocks noGrp="1"/>
          </p:cNvSpPr>
          <p:nvPr>
            <p:ph type="title"/>
          </p:nvPr>
        </p:nvSpPr>
        <p:spPr/>
        <p:txBody>
          <a:bodyPr/>
          <a:lstStyle/>
          <a:p>
            <a:r>
              <a:rPr lang="en-IN" sz="2400" dirty="0">
                <a:latin typeface="Times New Roman" panose="02020603050405020304" pitchFamily="18" charset="0"/>
                <a:cs typeface="Times New Roman" panose="02020603050405020304" pitchFamily="18" charset="0"/>
              </a:rPr>
              <a:t>Functionality</a:t>
            </a:r>
          </a:p>
        </p:txBody>
      </p:sp>
      <p:sp>
        <p:nvSpPr>
          <p:cNvPr id="3" name="Text Placeholder 2">
            <a:extLst>
              <a:ext uri="{FF2B5EF4-FFF2-40B4-BE49-F238E27FC236}">
                <a16:creationId xmlns:a16="http://schemas.microsoft.com/office/drawing/2014/main" id="{37C9B8C9-D013-809D-0DD2-014E3AC10270}"/>
              </a:ext>
            </a:extLst>
          </p:cNvPr>
          <p:cNvSpPr>
            <a:spLocks noGrp="1"/>
          </p:cNvSpPr>
          <p:nvPr>
            <p:ph type="body"/>
          </p:nvPr>
        </p:nvSpPr>
        <p:spPr>
          <a:xfrm>
            <a:off x="311760" y="214008"/>
            <a:ext cx="8520120" cy="5447489"/>
          </a:xfrm>
        </p:spPr>
        <p:txBody>
          <a:bodyPr>
            <a:normAutofit/>
          </a:bodyPr>
          <a:lstStyle/>
          <a:p>
            <a:r>
              <a:rPr lang="en-US" sz="1100" b="1" dirty="0"/>
              <a:t>1. Data Input</a:t>
            </a:r>
          </a:p>
          <a:p>
            <a:r>
              <a:rPr lang="en-US" sz="1100" dirty="0"/>
              <a:t>The system accepts a dataset as input in CSV format. The dataset contains features and a target variable used for classification.</a:t>
            </a:r>
          </a:p>
          <a:p>
            <a:endParaRPr lang="en-US" sz="1100" dirty="0"/>
          </a:p>
          <a:p>
            <a:r>
              <a:rPr lang="en-US" sz="1100" b="1" dirty="0"/>
              <a:t>2. Data Preprocessing</a:t>
            </a:r>
          </a:p>
          <a:p>
            <a:r>
              <a:rPr lang="en-US" sz="1100" dirty="0"/>
              <a:t>The input data is cleaned and prepared by:</a:t>
            </a:r>
          </a:p>
          <a:p>
            <a:r>
              <a:rPr lang="en-US" sz="1100" dirty="0"/>
              <a:t>Separating features and target </a:t>
            </a:r>
          </a:p>
          <a:p>
            <a:r>
              <a:rPr lang="en-US" sz="1100" dirty="0"/>
              <a:t>Encoding categorical values (if any) </a:t>
            </a:r>
          </a:p>
          <a:p>
            <a:r>
              <a:rPr lang="en-US" sz="1100" dirty="0"/>
              <a:t>Normalizing features using scaling techniques</a:t>
            </a:r>
            <a:br>
              <a:rPr lang="en-US" sz="1100" dirty="0"/>
            </a:br>
            <a:r>
              <a:rPr lang="en-US" sz="1100" dirty="0"/>
              <a:t>This step ensures better model performance. </a:t>
            </a:r>
          </a:p>
          <a:p>
            <a:endParaRPr lang="en-US" sz="1100" dirty="0"/>
          </a:p>
          <a:p>
            <a:r>
              <a:rPr lang="en-US" sz="1100" b="1" dirty="0"/>
              <a:t> 3. Population Initialization</a:t>
            </a:r>
          </a:p>
          <a:p>
            <a:r>
              <a:rPr lang="en-US" sz="1100" dirty="0"/>
              <a:t>The system generates an initial population of random solutions (chromosomes). Each chromosome represents a model (KNN or SVM) along with its hyperparameters.</a:t>
            </a:r>
          </a:p>
          <a:p>
            <a:r>
              <a:rPr lang="en-US" sz="1100" b="1" dirty="0"/>
              <a:t>4. Model Training and Evaluation</a:t>
            </a:r>
          </a:p>
          <a:p>
            <a:r>
              <a:rPr lang="en-US" sz="1100" dirty="0"/>
              <a:t>Each chromosome is evaluated by training the corresponding model and calculating its accuracy. This accuracy is used as the fitness value.</a:t>
            </a:r>
          </a:p>
          <a:p>
            <a:endParaRPr lang="en-US" sz="1100" dirty="0"/>
          </a:p>
          <a:p>
            <a:r>
              <a:rPr lang="en-US" sz="1100" b="1" dirty="0"/>
              <a:t> 5. Selection Mechanism</a:t>
            </a:r>
          </a:p>
          <a:p>
            <a:r>
              <a:rPr lang="en-US" sz="1100" dirty="0"/>
              <a:t>The system selects the best-performing individuals based on fitness. These individuals are used to generate the next generation.</a:t>
            </a:r>
          </a:p>
          <a:p>
            <a:endParaRPr lang="en-US" sz="1100" dirty="0"/>
          </a:p>
          <a:p>
            <a:r>
              <a:rPr lang="en-US" sz="1100" b="1" dirty="0"/>
              <a:t> 6. Crossover Operation</a:t>
            </a:r>
          </a:p>
          <a:p>
            <a:r>
              <a:rPr lang="en-US" sz="1100" dirty="0"/>
              <a:t>Selected individuals are combined to create new offspring. This helps in exploring new combinations of hyperparameters.</a:t>
            </a:r>
            <a:br>
              <a:rPr lang="en-US" sz="1100" dirty="0"/>
            </a:br>
            <a:endParaRPr lang="en-US" sz="1100" dirty="0"/>
          </a:p>
          <a:p>
            <a:r>
              <a:rPr lang="en-US" sz="1100" b="1" dirty="0"/>
              <a:t> 7. Mutation Operation</a:t>
            </a:r>
          </a:p>
          <a:p>
            <a:r>
              <a:rPr lang="en-US" sz="1100" dirty="0"/>
              <a:t>Random changes are introduced in some individuals to maintain diversity and avoid local optima.</a:t>
            </a:r>
          </a:p>
          <a:p>
            <a:endParaRPr lang="en-US" sz="1100" dirty="0"/>
          </a:p>
          <a:p>
            <a:r>
              <a:rPr lang="en-US" sz="1100" b="1" dirty="0"/>
              <a:t>8. Iterative Optimization</a:t>
            </a:r>
          </a:p>
          <a:p>
            <a:r>
              <a:rPr lang="en-US" sz="1100" dirty="0"/>
              <a:t>The process of selection, crossover, and mutation is repeated for 50 generations. The population evolves and improves over time.</a:t>
            </a:r>
          </a:p>
          <a:p>
            <a:endParaRPr lang="en-IN" sz="1100" dirty="0"/>
          </a:p>
        </p:txBody>
      </p:sp>
    </p:spTree>
    <p:extLst>
      <p:ext uri="{BB962C8B-B14F-4D97-AF65-F5344CB8AC3E}">
        <p14:creationId xmlns:p14="http://schemas.microsoft.com/office/powerpoint/2010/main" val="4018522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FB62C-3B39-31FD-F2B2-148D1E2FB22E}"/>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Implementation</a:t>
            </a:r>
            <a:endParaRPr lang="en-IN"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447D9C4F-16B2-F991-23FA-9D9AE1792162}"/>
              </a:ext>
            </a:extLst>
          </p:cNvPr>
          <p:cNvSpPr>
            <a:spLocks noGrp="1"/>
          </p:cNvSpPr>
          <p:nvPr>
            <p:ph type="body"/>
          </p:nvPr>
        </p:nvSpPr>
        <p:spPr>
          <a:xfrm>
            <a:off x="311760" y="863729"/>
            <a:ext cx="8520120" cy="3799061"/>
          </a:xfrm>
        </p:spPr>
        <p:txBody>
          <a:bodyPr>
            <a:normAutofit/>
          </a:bodyPr>
          <a:lstStyle/>
          <a:p>
            <a:r>
              <a:rPr lang="en-US" sz="1200" b="1" dirty="0">
                <a:latin typeface="Times New Roman" panose="02020603050405020304" pitchFamily="18" charset="0"/>
                <a:cs typeface="Times New Roman" panose="02020603050405020304" pitchFamily="18" charset="0"/>
              </a:rPr>
              <a:t>Implementation of GA-based Hyperparameter Optimizer for KNN and SVM</a:t>
            </a:r>
          </a:p>
          <a:p>
            <a:r>
              <a:rPr lang="en-US" sz="1200" b="1" dirty="0"/>
              <a:t>1. Data Collection and Preprocessing</a:t>
            </a:r>
          </a:p>
          <a:p>
            <a:r>
              <a:rPr lang="en-US" sz="1200" dirty="0"/>
              <a:t>The dataset is loaded using the Pandas library. Features (X) and target variable (y) are separated. If the target is categorical, it is converted into numerical form using Label Encoding. Feature scaling is applied using </a:t>
            </a:r>
            <a:r>
              <a:rPr lang="en-US" sz="1200" dirty="0" err="1"/>
              <a:t>StandardScaler</a:t>
            </a:r>
            <a:r>
              <a:rPr lang="en-US" sz="1200" dirty="0"/>
              <a:t> to normalize the data. Finally, the dataset is split into training and testing sets.</a:t>
            </a:r>
          </a:p>
          <a:p>
            <a:r>
              <a:rPr lang="en-US" sz="1200" b="1" dirty="0"/>
              <a:t>2. Chromosome Representation</a:t>
            </a:r>
          </a:p>
          <a:p>
            <a:r>
              <a:rPr lang="en-US" sz="1200" dirty="0"/>
              <a:t>Each solution in the Genetic Algorithm is represented as a chromosome.</a:t>
            </a:r>
          </a:p>
          <a:p>
            <a:r>
              <a:rPr lang="en-US" sz="1200" dirty="0"/>
              <a:t>For KNN: [0, K, 0] </a:t>
            </a:r>
          </a:p>
          <a:p>
            <a:r>
              <a:rPr lang="en-US" sz="1200" dirty="0"/>
              <a:t>For SVM: [1, C, gamma]</a:t>
            </a:r>
            <a:br>
              <a:rPr lang="en-US" sz="1200" dirty="0"/>
            </a:br>
            <a:r>
              <a:rPr lang="en-US" sz="1200" dirty="0"/>
              <a:t>Here, 0 represents KNN and 1 represents SVM. This encoding allows the GA to optimize both models simultaneously. </a:t>
            </a:r>
          </a:p>
          <a:p>
            <a:r>
              <a:rPr lang="en-US" sz="1200" b="1" dirty="0"/>
              <a:t>3. Initial Population</a:t>
            </a:r>
          </a:p>
          <a:p>
            <a:r>
              <a:rPr lang="en-US" sz="1200" dirty="0"/>
              <a:t>A population of random individuals (solutions) is generated. Each individual contains randomly selected hyperparameters within a defined range. This ensures diversity in the search space at the beginning of the algorithm.</a:t>
            </a:r>
          </a:p>
          <a:p>
            <a:r>
              <a:rPr lang="en-US" sz="1200" b="1" dirty="0"/>
              <a:t>4. Fitness Function</a:t>
            </a:r>
          </a:p>
          <a:p>
            <a:r>
              <a:rPr lang="en-US" sz="1200" dirty="0"/>
              <a:t>The fitness of each individual is evaluated using classification accuracy. The model (KNN or SVM) is trained using the given parameters, and predictions are made on test data. Higher accuracy indicates a better solution.</a:t>
            </a:r>
          </a:p>
          <a:p>
            <a:r>
              <a:rPr lang="en-US" sz="1200" b="1" dirty="0"/>
              <a:t>5. Selection Process</a:t>
            </a:r>
          </a:p>
          <a:p>
            <a:r>
              <a:rPr lang="en-US" sz="1200" dirty="0"/>
              <a:t>The best-performing individuals are selected based on their fitness scores. Typically, the top 50% of the population is chosen. This ensures that better solutions are carried forward to the next generation.</a:t>
            </a:r>
          </a:p>
          <a:p>
            <a:endParaRPr lang="en-IN" sz="1000" dirty="0"/>
          </a:p>
        </p:txBody>
      </p:sp>
    </p:spTree>
    <p:extLst>
      <p:ext uri="{BB962C8B-B14F-4D97-AF65-F5344CB8AC3E}">
        <p14:creationId xmlns:p14="http://schemas.microsoft.com/office/powerpoint/2010/main" val="1650077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B9ADD-0963-5308-F712-6AD83B20CD05}"/>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Implementation</a:t>
            </a:r>
            <a:endParaRPr lang="en-IN"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C94D3A4-A0B5-EB8E-F857-F6DE2C52738D}"/>
              </a:ext>
            </a:extLst>
          </p:cNvPr>
          <p:cNvSpPr>
            <a:spLocks noGrp="1"/>
          </p:cNvSpPr>
          <p:nvPr>
            <p:ph type="body"/>
          </p:nvPr>
        </p:nvSpPr>
        <p:spPr>
          <a:xfrm>
            <a:off x="311760" y="863640"/>
            <a:ext cx="8520120" cy="3766726"/>
          </a:xfrm>
        </p:spPr>
        <p:txBody>
          <a:bodyPr>
            <a:normAutofit/>
          </a:bodyPr>
          <a:lstStyle/>
          <a:p>
            <a:pPr marL="0" indent="0">
              <a:buNone/>
            </a:pPr>
            <a:r>
              <a:rPr lang="en-US" sz="1400" b="1" dirty="0"/>
              <a:t>6. Crossover Operation</a:t>
            </a:r>
          </a:p>
          <a:p>
            <a:r>
              <a:rPr lang="en-US" sz="1400" dirty="0"/>
              <a:t>Crossover combines two parent individuals to create a new offspring. Parameters from both parents are mixed randomly. This helps in exploring new regions of the solution space.</a:t>
            </a:r>
          </a:p>
          <a:p>
            <a:pPr marL="0" indent="0">
              <a:buNone/>
            </a:pPr>
            <a:r>
              <a:rPr lang="en-US" sz="1400" b="1" dirty="0"/>
              <a:t>7. Mutation Operation</a:t>
            </a:r>
          </a:p>
          <a:p>
            <a:r>
              <a:rPr lang="en-US" sz="1400" dirty="0"/>
              <a:t>Mutation introduces small random changes in the chromosome. For example, K value or SVM parameters may change slightly. This prevents the algorithm from getting stuck in local optima and maintains diversity.</a:t>
            </a:r>
          </a:p>
          <a:p>
            <a:pPr marL="0" indent="0">
              <a:buNone/>
            </a:pPr>
            <a:r>
              <a:rPr lang="en-US" sz="1400" b="1" dirty="0"/>
              <a:t>8. Iterative Evolution</a:t>
            </a:r>
          </a:p>
          <a:p>
            <a:r>
              <a:rPr lang="en-US" sz="1400" dirty="0"/>
              <a:t>The process of selection, crossover, and mutation is repeated for 50 generations. In each generation, the population evolves and improves. The best and average fitness values are tracked to observe progress.</a:t>
            </a:r>
          </a:p>
          <a:p>
            <a:pPr marL="0" indent="0">
              <a:buNone/>
            </a:pPr>
            <a:r>
              <a:rPr lang="en-US" sz="1400" b="1" dirty="0"/>
              <a:t>9. Final Model Selection</a:t>
            </a:r>
          </a:p>
          <a:p>
            <a:r>
              <a:rPr lang="en-US" sz="1400" dirty="0"/>
              <a:t>After completing all generations, the individual with the highest accuracy is selected as the best solution. The corresponding model (KNN or SVM) and its optimized parameters are reported.</a:t>
            </a:r>
          </a:p>
          <a:p>
            <a:pPr marL="0" indent="0">
              <a:buNone/>
            </a:pPr>
            <a:r>
              <a:rPr lang="en-IN" sz="1400" b="1" dirty="0"/>
              <a:t>10. Visualization</a:t>
            </a:r>
          </a:p>
          <a:p>
            <a:r>
              <a:rPr lang="en-IN" sz="1400" dirty="0"/>
              <a:t>Graphs are used to </a:t>
            </a:r>
            <a:r>
              <a:rPr lang="en-IN" sz="1400" dirty="0" err="1"/>
              <a:t>analyze</a:t>
            </a:r>
            <a:r>
              <a:rPr lang="en-IN" sz="1400" dirty="0"/>
              <a:t> the performance of the Genetic Algorithm:</a:t>
            </a:r>
          </a:p>
          <a:p>
            <a:r>
              <a:rPr lang="en-IN" sz="1400" dirty="0"/>
              <a:t>Line graph: Accuracy vs Generation </a:t>
            </a:r>
          </a:p>
          <a:p>
            <a:r>
              <a:rPr lang="en-IN" sz="1400" dirty="0"/>
              <a:t>Pie chart: Model distribution (KNN vs SVM) </a:t>
            </a:r>
          </a:p>
          <a:p>
            <a:r>
              <a:rPr lang="en-IN" sz="1400" dirty="0"/>
              <a:t>Pie chart: Best model selection </a:t>
            </a:r>
          </a:p>
          <a:p>
            <a:r>
              <a:rPr lang="en-IN" sz="1400" dirty="0"/>
              <a:t>These visualizations help in understanding how the algorithm converges and which model performs better</a:t>
            </a:r>
            <a:r>
              <a:rPr lang="en-IN" sz="1000" dirty="0"/>
              <a:t>.</a:t>
            </a:r>
          </a:p>
          <a:p>
            <a:pPr marL="0" indent="0">
              <a:buNone/>
            </a:pP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971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F2E0-AF61-8551-A9F4-E691E119A70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Implementation</a:t>
            </a:r>
            <a:endParaRPr lang="en-IN" dirty="0"/>
          </a:p>
        </p:txBody>
      </p:sp>
      <p:sp>
        <p:nvSpPr>
          <p:cNvPr id="3" name="Text Placeholder 2">
            <a:extLst>
              <a:ext uri="{FF2B5EF4-FFF2-40B4-BE49-F238E27FC236}">
                <a16:creationId xmlns:a16="http://schemas.microsoft.com/office/drawing/2014/main" id="{B497DD97-958E-6FB1-921A-989775DB5639}"/>
              </a:ext>
            </a:extLst>
          </p:cNvPr>
          <p:cNvSpPr>
            <a:spLocks noGrp="1"/>
          </p:cNvSpPr>
          <p:nvPr>
            <p:ph type="body"/>
          </p:nvPr>
        </p:nvSpPr>
        <p:spPr/>
        <p:txBody>
          <a:bodyPr>
            <a:normAutofit/>
          </a:bodyPr>
          <a:lstStyle/>
          <a:p>
            <a:r>
              <a:rPr lang="en-IN" sz="1400" dirty="0"/>
              <a:t>Flow chart of working:			line graph:	</a:t>
            </a:r>
          </a:p>
        </p:txBody>
      </p:sp>
      <p:pic>
        <p:nvPicPr>
          <p:cNvPr id="5" name="Picture 4">
            <a:extLst>
              <a:ext uri="{FF2B5EF4-FFF2-40B4-BE49-F238E27FC236}">
                <a16:creationId xmlns:a16="http://schemas.microsoft.com/office/drawing/2014/main" id="{76E13974-0500-F7CC-6DE6-0D76CCE74B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4908" y="1198444"/>
            <a:ext cx="3490295" cy="2627769"/>
          </a:xfrm>
          <a:prstGeom prst="rect">
            <a:avLst/>
          </a:prstGeom>
        </p:spPr>
      </p:pic>
      <p:pic>
        <p:nvPicPr>
          <p:cNvPr id="2050" name="Picture 2" descr="Curve of fitness value per generation of the genetic algorithm. | Download  Scientific Diagram">
            <a:extLst>
              <a:ext uri="{FF2B5EF4-FFF2-40B4-BE49-F238E27FC236}">
                <a16:creationId xmlns:a16="http://schemas.microsoft.com/office/drawing/2014/main" id="{5057B1F6-675B-492C-2BDF-2CF843EF3D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8351" y="1198444"/>
            <a:ext cx="4458326" cy="3545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2068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7DCCC-A505-B661-0BA1-BB888C7B67E1}"/>
              </a:ext>
            </a:extLst>
          </p:cNvPr>
          <p:cNvSpPr>
            <a:spLocks noGrp="1"/>
          </p:cNvSpPr>
          <p:nvPr>
            <p:ph type="title"/>
          </p:nvPr>
        </p:nvSpPr>
        <p:spPr/>
        <p:txBody>
          <a:bodyPr/>
          <a:lstStyle/>
          <a:p>
            <a:r>
              <a:rPr lang="en-US" sz="2400" b="1" dirty="0">
                <a:latin typeface="Times New Roman" panose="02020603050405020304" pitchFamily="18" charset="0"/>
                <a:cs typeface="Times New Roman" panose="02020603050405020304" pitchFamily="18" charset="0"/>
              </a:rPr>
              <a:t>Project Analysis</a:t>
            </a:r>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83D8366-05D9-78C5-BAF8-45C79C9E2D47}"/>
              </a:ext>
            </a:extLst>
          </p:cNvPr>
          <p:cNvSpPr>
            <a:spLocks noGrp="1"/>
          </p:cNvSpPr>
          <p:nvPr>
            <p:ph type="subTitle"/>
          </p:nvPr>
        </p:nvSpPr>
        <p:spPr>
          <a:xfrm>
            <a:off x="182057" y="1128409"/>
            <a:ext cx="8520120" cy="3882925"/>
          </a:xfrm>
        </p:spPr>
        <p:txBody>
          <a:bodyPr/>
          <a:lstStyle/>
          <a:p>
            <a:r>
              <a:rPr lang="en-IN" sz="1400" b="1" dirty="0"/>
              <a:t>1. System Overview</a:t>
            </a:r>
          </a:p>
          <a:p>
            <a:r>
              <a:rPr lang="en-IN" sz="1400" dirty="0"/>
              <a:t>The system is designed to automate hyperparameter tuning using a Genetic Algorithm. It takes a dataset as input, preprocesses it, and applies GA to optimize KNN and SVM models. The output is the best model along with optimized parameters and accuracy.</a:t>
            </a:r>
          </a:p>
          <a:p>
            <a:endParaRPr lang="en-IN" sz="1400" dirty="0"/>
          </a:p>
          <a:p>
            <a:r>
              <a:rPr lang="en-IN" sz="1400" b="1" dirty="0"/>
              <a:t> 2. Input and Output</a:t>
            </a:r>
          </a:p>
          <a:p>
            <a:r>
              <a:rPr lang="en-IN" sz="1400" b="1" dirty="0"/>
              <a:t>Input:</a:t>
            </a:r>
            <a:r>
              <a:rPr lang="en-IN" sz="1400" dirty="0"/>
              <a:t> Dataset with features and target variable </a:t>
            </a:r>
          </a:p>
          <a:p>
            <a:r>
              <a:rPr lang="en-IN" sz="1400" b="1" dirty="0"/>
              <a:t>Output:</a:t>
            </a:r>
            <a:r>
              <a:rPr lang="en-IN" sz="1400" dirty="0"/>
              <a:t> </a:t>
            </a:r>
          </a:p>
          <a:p>
            <a:pPr lvl="1"/>
            <a:r>
              <a:rPr lang="en-IN" sz="1400" dirty="0"/>
              <a:t>Best model (KNN or SVM) </a:t>
            </a:r>
          </a:p>
          <a:p>
            <a:pPr lvl="1"/>
            <a:r>
              <a:rPr lang="en-IN" sz="1400" dirty="0"/>
              <a:t>Optimized hyperparameters </a:t>
            </a:r>
          </a:p>
          <a:p>
            <a:pPr lvl="1"/>
            <a:r>
              <a:rPr lang="en-IN" sz="1400" dirty="0"/>
              <a:t>Accuracy score </a:t>
            </a:r>
            <a:br>
              <a:rPr lang="en-IN" sz="1400" dirty="0"/>
            </a:br>
            <a:endParaRPr lang="en-IN" sz="1400" dirty="0"/>
          </a:p>
          <a:p>
            <a:r>
              <a:rPr lang="en-IN" sz="1400" b="1" dirty="0"/>
              <a:t> 3. Key Components</a:t>
            </a:r>
          </a:p>
          <a:p>
            <a:r>
              <a:rPr lang="en-IN" sz="1400" dirty="0"/>
              <a:t>Data preprocessing module </a:t>
            </a:r>
          </a:p>
          <a:p>
            <a:r>
              <a:rPr lang="en-IN" sz="1400" dirty="0"/>
              <a:t>Genetic Algorithm module </a:t>
            </a:r>
          </a:p>
          <a:p>
            <a:r>
              <a:rPr lang="en-IN" sz="1400" dirty="0"/>
              <a:t>Machine learning models (KNN &amp; SVM) </a:t>
            </a:r>
          </a:p>
          <a:p>
            <a:r>
              <a:rPr lang="en-IN" sz="1400" dirty="0"/>
              <a:t>Evaluation module (accuracy calculation) </a:t>
            </a:r>
          </a:p>
          <a:p>
            <a:r>
              <a:rPr lang="en-IN" sz="1400" dirty="0"/>
              <a:t>Visualization module (graphs and charts) </a:t>
            </a:r>
          </a:p>
          <a:p>
            <a:endParaRPr lang="en-IN" sz="1400" dirty="0"/>
          </a:p>
          <a:p>
            <a:pPr marL="285750" indent="-285750">
              <a:buFont typeface="Wingdings" panose="05000000000000000000" pitchFamily="2" charset="2"/>
              <a:buChar char="q"/>
            </a:pPr>
            <a:endParaRPr lang="en-IN" sz="800" dirty="0"/>
          </a:p>
          <a:p>
            <a:pPr marL="285750" indent="-285750">
              <a:buFont typeface="Wingdings" panose="05000000000000000000" pitchFamily="2" charset="2"/>
              <a:buChar char="q"/>
            </a:pPr>
            <a:endParaRPr lang="en-IN" sz="800" dirty="0"/>
          </a:p>
          <a:p>
            <a:pPr marL="285750" indent="-285750">
              <a:buFont typeface="Wingdings" panose="05000000000000000000" pitchFamily="2" charset="2"/>
              <a:buChar char="q"/>
            </a:pPr>
            <a:endParaRPr lang="en-US" sz="800" dirty="0"/>
          </a:p>
          <a:p>
            <a:pPr marL="297815" marR="5080" indent="-285750" algn="just">
              <a:lnSpc>
                <a:spcPct val="150000"/>
              </a:lnSpc>
              <a:spcBef>
                <a:spcPts val="100"/>
              </a:spcBef>
              <a:buFont typeface="Wingdings" panose="05000000000000000000" pitchFamily="2" charset="2"/>
              <a:buChar char="q"/>
              <a:tabLst>
                <a:tab pos="321945" algn="l"/>
              </a:tabLst>
            </a:pPr>
            <a:endParaRPr lang="en-IN" sz="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A6AFBA7-D42A-79B2-2341-DA193FC06F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89076" y="41166"/>
            <a:ext cx="1794969" cy="595628"/>
          </a:xfrm>
          <a:prstGeom prst="rect">
            <a:avLst/>
          </a:prstGeom>
        </p:spPr>
      </p:pic>
    </p:spTree>
    <p:extLst>
      <p:ext uri="{BB962C8B-B14F-4D97-AF65-F5344CB8AC3E}">
        <p14:creationId xmlns:p14="http://schemas.microsoft.com/office/powerpoint/2010/main" val="248518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B06D9-B6CF-051F-C10A-72E0E8F3C5FF}"/>
              </a:ext>
            </a:extLst>
          </p:cNvPr>
          <p:cNvSpPr>
            <a:spLocks noGrp="1"/>
          </p:cNvSpPr>
          <p:nvPr>
            <p:ph type="title"/>
          </p:nvPr>
        </p:nvSpPr>
        <p:spPr>
          <a:xfrm>
            <a:off x="311760" y="600480"/>
            <a:ext cx="8520120" cy="203673"/>
          </a:xfrm>
        </p:spPr>
        <p:txBody>
          <a:bodyPr/>
          <a:lstStyle/>
          <a:p>
            <a:r>
              <a:rPr lang="en-US" sz="2400" b="1" dirty="0">
                <a:latin typeface="Times New Roman" panose="02020603050405020304" pitchFamily="18" charset="0"/>
                <a:cs typeface="Times New Roman" panose="02020603050405020304" pitchFamily="18" charset="0"/>
              </a:rPr>
              <a:t>Project Analysis</a:t>
            </a:r>
            <a:br>
              <a:rPr lang="en-IN" dirty="0"/>
            </a:br>
            <a:endParaRPr lang="en-IN" dirty="0"/>
          </a:p>
        </p:txBody>
      </p:sp>
      <p:sp>
        <p:nvSpPr>
          <p:cNvPr id="3" name="Subtitle 2">
            <a:extLst>
              <a:ext uri="{FF2B5EF4-FFF2-40B4-BE49-F238E27FC236}">
                <a16:creationId xmlns:a16="http://schemas.microsoft.com/office/drawing/2014/main" id="{E8243AC8-5B19-CE4C-A894-D720EA8242BF}"/>
              </a:ext>
            </a:extLst>
          </p:cNvPr>
          <p:cNvSpPr>
            <a:spLocks noGrp="1"/>
          </p:cNvSpPr>
          <p:nvPr>
            <p:ph type="subTitle"/>
          </p:nvPr>
        </p:nvSpPr>
        <p:spPr>
          <a:xfrm>
            <a:off x="311760" y="1880680"/>
            <a:ext cx="8520120" cy="2398999"/>
          </a:xfrm>
        </p:spPr>
        <p:txBody>
          <a:bodyPr/>
          <a:lstStyle/>
          <a:p>
            <a:pPr marL="0" indent="0">
              <a:buNone/>
            </a:pPr>
            <a:r>
              <a:rPr lang="en-IN" sz="1600" b="1" dirty="0"/>
              <a:t>4. Working Mechanism				</a:t>
            </a:r>
          </a:p>
          <a:p>
            <a:r>
              <a:rPr lang="en-IN" sz="1600" dirty="0"/>
              <a:t>Load and preprocess dataset </a:t>
            </a:r>
          </a:p>
          <a:p>
            <a:r>
              <a:rPr lang="en-IN" sz="1600" dirty="0"/>
              <a:t>Initialize random population </a:t>
            </a:r>
          </a:p>
          <a:p>
            <a:r>
              <a:rPr lang="en-IN" sz="1600" dirty="0"/>
              <a:t>Evaluate fitness using accuracy </a:t>
            </a:r>
          </a:p>
          <a:p>
            <a:r>
              <a:rPr lang="en-IN" sz="1600" dirty="0"/>
              <a:t>Select best individuals </a:t>
            </a:r>
          </a:p>
          <a:p>
            <a:r>
              <a:rPr lang="en-IN" sz="1600" dirty="0"/>
              <a:t>Apply crossover and mutation 				</a:t>
            </a:r>
          </a:p>
          <a:p>
            <a:r>
              <a:rPr lang="en-IN" sz="1600" dirty="0"/>
              <a:t>Repeat for 50 generations </a:t>
            </a:r>
          </a:p>
          <a:p>
            <a:r>
              <a:rPr lang="en-IN" sz="1600" dirty="0"/>
              <a:t>Select best solution </a:t>
            </a:r>
          </a:p>
          <a:p>
            <a:pPr marL="0" indent="0">
              <a:buNone/>
            </a:pPr>
            <a:r>
              <a:rPr lang="en-IN" sz="1600" b="1" dirty="0"/>
              <a:t> 5. Performance Analysis</a:t>
            </a:r>
          </a:p>
          <a:p>
            <a:r>
              <a:rPr lang="en-IN" sz="1600" dirty="0"/>
              <a:t>Accuracy improves over generations </a:t>
            </a:r>
          </a:p>
          <a:p>
            <a:r>
              <a:rPr lang="en-IN" sz="1600" dirty="0"/>
              <a:t>GA efficiently explores search space </a:t>
            </a:r>
          </a:p>
          <a:p>
            <a:r>
              <a:rPr lang="en-IN" sz="1600" dirty="0"/>
              <a:t>Finds near-optimal hyperparameters </a:t>
            </a:r>
          </a:p>
          <a:p>
            <a:r>
              <a:rPr lang="en-IN" sz="1600" dirty="0"/>
              <a:t>Reduces manual tuning effort </a:t>
            </a:r>
          </a:p>
          <a:p>
            <a:pPr marL="0" indent="0">
              <a:buNone/>
            </a:pPr>
            <a:r>
              <a:rPr lang="en-IN" sz="1600" b="1" dirty="0"/>
              <a:t>6. Advantages of Proposed System</a:t>
            </a:r>
          </a:p>
          <a:p>
            <a:r>
              <a:rPr lang="en-IN" sz="1600" dirty="0"/>
              <a:t>Automated optimization </a:t>
            </a:r>
          </a:p>
          <a:p>
            <a:r>
              <a:rPr lang="en-IN" sz="1600" dirty="0"/>
              <a:t>Higher accuracy </a:t>
            </a:r>
          </a:p>
          <a:p>
            <a:r>
              <a:rPr lang="en-IN" sz="1600" dirty="0"/>
              <a:t>Efficient search process </a:t>
            </a:r>
          </a:p>
          <a:p>
            <a:r>
              <a:rPr lang="en-IN" sz="1600" dirty="0"/>
              <a:t>Applicable to different datasets</a:t>
            </a:r>
          </a:p>
          <a:p>
            <a:endParaRPr lang="en-IN" sz="1000" dirty="0"/>
          </a:p>
        </p:txBody>
      </p:sp>
      <p:sp>
        <p:nvSpPr>
          <p:cNvPr id="4" name="AutoShape 2" descr="Flow chart of genetic algorithm | Download Scientific Diagram">
            <a:extLst>
              <a:ext uri="{FF2B5EF4-FFF2-40B4-BE49-F238E27FC236}">
                <a16:creationId xmlns:a16="http://schemas.microsoft.com/office/drawing/2014/main" id="{E40589A2-9CAB-6EB0-6D74-7241CF3FD4F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506809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DAA49-7A3C-6D21-CD05-F759BF1B65A1}"/>
              </a:ext>
            </a:extLst>
          </p:cNvPr>
          <p:cNvSpPr>
            <a:spLocks noGrp="1"/>
          </p:cNvSpPr>
          <p:nvPr>
            <p:ph type="title"/>
          </p:nvPr>
        </p:nvSpPr>
        <p:spPr/>
        <p:txBody>
          <a:bodyPr/>
          <a:lstStyle/>
          <a:p>
            <a:r>
              <a:rPr lang="en-US" sz="2400" b="1" spc="-5" dirty="0">
                <a:latin typeface="Times New Roman" panose="02020603050405020304" pitchFamily="18" charset="0"/>
                <a:cs typeface="Times New Roman" panose="02020603050405020304" pitchFamily="18" charset="0"/>
              </a:rPr>
              <a:t>Literature Review: Existing Solutions</a:t>
            </a:r>
            <a:endParaRPr lang="en-IN" sz="2400" dirty="0"/>
          </a:p>
        </p:txBody>
      </p:sp>
      <p:sp>
        <p:nvSpPr>
          <p:cNvPr id="3" name="Subtitle 2">
            <a:extLst>
              <a:ext uri="{FF2B5EF4-FFF2-40B4-BE49-F238E27FC236}">
                <a16:creationId xmlns:a16="http://schemas.microsoft.com/office/drawing/2014/main" id="{259593B7-213F-7C79-3CE4-2739FFD85469}"/>
              </a:ext>
            </a:extLst>
          </p:cNvPr>
          <p:cNvSpPr>
            <a:spLocks noGrp="1"/>
          </p:cNvSpPr>
          <p:nvPr>
            <p:ph type="subTitle"/>
          </p:nvPr>
        </p:nvSpPr>
        <p:spPr>
          <a:xfrm>
            <a:off x="311760" y="739302"/>
            <a:ext cx="8520120" cy="3928321"/>
          </a:xfrm>
        </p:spPr>
        <p:txBody>
          <a:bodyPr/>
          <a:lstStyle/>
          <a:p>
            <a:pPr marL="0" indent="0">
              <a:buNone/>
            </a:pPr>
            <a:endParaRPr lang="en-US" sz="1100" b="1" dirty="0"/>
          </a:p>
          <a:p>
            <a:pPr marL="0" indent="0">
              <a:buNone/>
            </a:pPr>
            <a:r>
              <a:rPr lang="en-US" sz="1100" b="1" dirty="0"/>
              <a:t>1. Genetic Algorithms in Optimization</a:t>
            </a:r>
          </a:p>
          <a:p>
            <a:r>
              <a:rPr lang="en-US" sz="1100" dirty="0"/>
              <a:t>Genetic Algorithms (GA) are evolutionary techniques inspired by natural selection. They are widely used for solving optimization problems where traditional methods fail. GA works by evolving a population of solutions using selection, crossover, and mutation. It is especially useful in machine learning for searching large hyperparameter spaces efficiently. GA provides near-optimal solutions without exhaustive search. </a:t>
            </a:r>
          </a:p>
          <a:p>
            <a:r>
              <a:rPr lang="en-IN" sz="1100" dirty="0" err="1"/>
              <a:t>Reference:</a:t>
            </a:r>
            <a:r>
              <a:rPr lang="en-IN" sz="1100" dirty="0" err="1">
                <a:solidFill>
                  <a:schemeClr val="accent1"/>
                </a:solidFill>
              </a:rPr>
              <a:t>https</a:t>
            </a:r>
            <a:r>
              <a:rPr lang="en-IN" sz="1100" dirty="0">
                <a:solidFill>
                  <a:schemeClr val="accent1"/>
                </a:solidFill>
              </a:rPr>
              <a:t>://scholar.google.com/</a:t>
            </a:r>
            <a:r>
              <a:rPr lang="en-IN" sz="1100" dirty="0" err="1">
                <a:solidFill>
                  <a:schemeClr val="accent1"/>
                </a:solidFill>
              </a:rPr>
              <a:t>scholar?q</a:t>
            </a:r>
            <a:r>
              <a:rPr lang="en-IN" sz="1100" dirty="0">
                <a:solidFill>
                  <a:schemeClr val="accent1"/>
                </a:solidFill>
              </a:rPr>
              <a:t>=</a:t>
            </a:r>
            <a:r>
              <a:rPr lang="en-IN" sz="1100" dirty="0" err="1">
                <a:solidFill>
                  <a:schemeClr val="accent1"/>
                </a:solidFill>
              </a:rPr>
              <a:t>genetic+algorithm+optimization+machine+learning</a:t>
            </a:r>
            <a:endParaRPr lang="en-US" sz="1100" dirty="0">
              <a:solidFill>
                <a:schemeClr val="accent1"/>
              </a:solidFill>
            </a:endParaRPr>
          </a:p>
          <a:p>
            <a:r>
              <a:rPr lang="en-US" sz="1100" b="1" dirty="0"/>
              <a:t>2. Hyperparameter Tuning in Machine Learning</a:t>
            </a:r>
          </a:p>
          <a:p>
            <a:r>
              <a:rPr lang="en-US" sz="1100" dirty="0"/>
              <a:t>Hyperparameters significantly affect the performance of machine learning models. Traditional methods like Grid Search and Random Search are commonly used but are computationally expensive. Automated optimization techniques like GA reduce manual effort and improve accuracy. Efficient tuning leads to better generalization of models.     Reference:     </a:t>
            </a:r>
            <a:r>
              <a:rPr lang="en-US" sz="1100" dirty="0">
                <a:solidFill>
                  <a:schemeClr val="accent1"/>
                </a:solidFill>
              </a:rPr>
              <a:t>https://scholar.google.com/scholar?q=hyperparameter+tuning+machine+learning</a:t>
            </a:r>
          </a:p>
          <a:p>
            <a:pPr marL="0" indent="0">
              <a:buNone/>
            </a:pPr>
            <a:r>
              <a:rPr lang="en-US" sz="1100" b="1" dirty="0"/>
              <a:t>3. K-Nearest Neighbors (KNN) Optimization</a:t>
            </a:r>
          </a:p>
          <a:p>
            <a:r>
              <a:rPr lang="en-US" sz="1100" dirty="0"/>
              <a:t>KNN is a simple yet effective classification algorithm that depends on the choice of K (number of neighbors). Selecting an inappropriate K value can lead to overfitting or underfitting. Optimization techniques like GA help in selecting the best K value automatically. This improves classification accuracy and model robustness. </a:t>
            </a:r>
          </a:p>
          <a:p>
            <a:r>
              <a:rPr lang="en-US" sz="1100" dirty="0"/>
              <a:t>   </a:t>
            </a:r>
            <a:r>
              <a:rPr lang="en-US" sz="1100" dirty="0" err="1"/>
              <a:t>Referene</a:t>
            </a:r>
            <a:r>
              <a:rPr lang="en-US" sz="1100" dirty="0"/>
              <a:t>:          </a:t>
            </a:r>
            <a:r>
              <a:rPr lang="en-US" sz="1100" dirty="0">
                <a:solidFill>
                  <a:schemeClr val="accent1"/>
                </a:solidFill>
              </a:rPr>
              <a:t>https://scholar.google.com/scholar?q=KNN+optimization+genetic+algorithm</a:t>
            </a:r>
          </a:p>
          <a:p>
            <a:pPr marL="0" indent="0">
              <a:buNone/>
            </a:pPr>
            <a:r>
              <a:rPr lang="en-US" sz="1100" b="1" dirty="0"/>
              <a:t>4. Support Vector Machine (SVM) Parameter Optimization</a:t>
            </a:r>
          </a:p>
          <a:p>
            <a:r>
              <a:rPr lang="en-US" sz="1100" dirty="0"/>
              <a:t>SVM performance depends heavily on hyperparameters like C and gamma. Improper values can reduce classification accuracy. Optimization methods such as GA are used to find the best parameter combination. This enhances the decision boundary and improves model performance.</a:t>
            </a:r>
          </a:p>
          <a:p>
            <a:pPr marL="0" indent="0">
              <a:buNone/>
            </a:pPr>
            <a:r>
              <a:rPr lang="en-US" sz="1100" dirty="0" err="1"/>
              <a:t>Reference:</a:t>
            </a:r>
            <a:r>
              <a:rPr lang="en-US" sz="1100" dirty="0" err="1">
                <a:solidFill>
                  <a:schemeClr val="accent1"/>
                </a:solidFill>
              </a:rPr>
              <a:t>https</a:t>
            </a:r>
            <a:r>
              <a:rPr lang="en-US" sz="1100" dirty="0">
                <a:solidFill>
                  <a:schemeClr val="accent1"/>
                </a:solidFill>
              </a:rPr>
              <a:t>://scholar.google.com/scholar?q=SVM+parameter+optimization+genetic+algorithm</a:t>
            </a:r>
          </a:p>
          <a:p>
            <a:pPr marL="0" indent="0">
              <a:buNone/>
            </a:pPr>
            <a:r>
              <a:rPr lang="en-US" sz="1100" b="1" dirty="0"/>
              <a:t>5. GA-based Hybrid Optimization Models</a:t>
            </a:r>
          </a:p>
          <a:p>
            <a:r>
              <a:rPr lang="en-US" sz="1100" dirty="0"/>
              <a:t>Recent research combines GA with machine learning algorithms for better performance. These hybrid models outperform traditional tuning methods in terms of accuracy and efficiency. GA-based optimization is widely used in classification, prediction, and real-world applications. It reduces computation time while maintaining high accuracy.</a:t>
            </a:r>
          </a:p>
          <a:p>
            <a:pPr marL="0" indent="0">
              <a:buNone/>
            </a:pPr>
            <a:r>
              <a:rPr lang="en-IN" sz="1100" dirty="0"/>
              <a:t> </a:t>
            </a:r>
            <a:r>
              <a:rPr lang="en-IN" sz="1100" dirty="0" err="1"/>
              <a:t>Reference:</a:t>
            </a:r>
            <a:r>
              <a:rPr lang="en-IN" sz="1100" dirty="0" err="1">
                <a:solidFill>
                  <a:schemeClr val="accent1"/>
                </a:solidFill>
              </a:rPr>
              <a:t>https</a:t>
            </a:r>
            <a:r>
              <a:rPr lang="en-IN" sz="1100" dirty="0">
                <a:solidFill>
                  <a:schemeClr val="accent1"/>
                </a:solidFill>
              </a:rPr>
              <a:t>://scholar.google.com/scholar?q=genetic+algorithm+machine+learning+optimization+hybrid</a:t>
            </a:r>
          </a:p>
          <a:p>
            <a:pPr marL="0" indent="0">
              <a:buNone/>
            </a:pPr>
            <a:endParaRPr lang="en-US" sz="800" dirty="0"/>
          </a:p>
          <a:p>
            <a:pPr marL="0" indent="0">
              <a:buNone/>
            </a:pPr>
            <a:endParaRPr lang="en-IN" sz="800" dirty="0"/>
          </a:p>
        </p:txBody>
      </p:sp>
    </p:spTree>
    <p:extLst>
      <p:ext uri="{BB962C8B-B14F-4D97-AF65-F5344CB8AC3E}">
        <p14:creationId xmlns:p14="http://schemas.microsoft.com/office/powerpoint/2010/main" val="633816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1EAA4-BEBF-907D-8E4A-F37EBDA983E3}"/>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Result</a:t>
            </a:r>
            <a:endParaRPr lang="en-IN" sz="2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1D726BB-B42B-87D7-106D-25B64AC373C1}"/>
              </a:ext>
            </a:extLst>
          </p:cNvPr>
          <p:cNvSpPr>
            <a:spLocks noGrp="1"/>
          </p:cNvSpPr>
          <p:nvPr>
            <p:ph type="subTitle"/>
          </p:nvPr>
        </p:nvSpPr>
        <p:spPr>
          <a:xfrm>
            <a:off x="311760" y="175098"/>
            <a:ext cx="8520120" cy="5090808"/>
          </a:xfrm>
        </p:spPr>
        <p:txBody>
          <a:bodyPr/>
          <a:lstStyle/>
          <a:p>
            <a:r>
              <a:rPr lang="en-US" sz="1800" dirty="0"/>
              <a:t>The Genetic Algorithm was successfully applied to optimize the hyperparameters of KNN and SVM models. Over 50 generations, the algorithm showed a consistent improvement in classification accuracy. The best-performing individual was selected based on the highest accuracy score obtained on the test dataset.</a:t>
            </a:r>
          </a:p>
          <a:p>
            <a:r>
              <a:rPr lang="en-US" sz="1800" dirty="0"/>
              <a:t>The results indicate that the Genetic Algorithm effectively explored the search space and identified optimal values for hyperparameters such as K (for KNN) and C and gamma (for SVM). The accuracy graph demonstrated a gradual convergence, where both best and average accuracy increased over generations.</a:t>
            </a:r>
          </a:p>
          <a:p>
            <a:r>
              <a:rPr lang="en-US" sz="1800" dirty="0"/>
              <a:t>Additionally, visualization through pie charts showed the distribution of models selected during the optimization process. In most cases, one model (either KNN or SVM) dominated depending on the dataset characteristics. The final output clearly highlighted the best model along with its optimized parameters and achieved accuracy.</a:t>
            </a:r>
          </a:p>
          <a:p>
            <a:endParaRPr lang="en-IN" sz="1000" dirty="0"/>
          </a:p>
        </p:txBody>
      </p:sp>
    </p:spTree>
    <p:extLst>
      <p:ext uri="{BB962C8B-B14F-4D97-AF65-F5344CB8AC3E}">
        <p14:creationId xmlns:p14="http://schemas.microsoft.com/office/powerpoint/2010/main" val="2433140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2D6D2-1721-AB9A-47F8-0F53C3956A34}"/>
              </a:ext>
            </a:extLst>
          </p:cNvPr>
          <p:cNvSpPr>
            <a:spLocks noGrp="1"/>
          </p:cNvSpPr>
          <p:nvPr>
            <p:ph type="title"/>
          </p:nvPr>
        </p:nvSpPr>
        <p:spPr/>
        <p:txBody>
          <a:bodyPr/>
          <a:lstStyle/>
          <a:p>
            <a:r>
              <a:rPr lang="en-IN" sz="2400" dirty="0"/>
              <a:t>Result </a:t>
            </a:r>
          </a:p>
        </p:txBody>
      </p:sp>
      <p:sp>
        <p:nvSpPr>
          <p:cNvPr id="3" name="Subtitle 2">
            <a:extLst>
              <a:ext uri="{FF2B5EF4-FFF2-40B4-BE49-F238E27FC236}">
                <a16:creationId xmlns:a16="http://schemas.microsoft.com/office/drawing/2014/main" id="{28D739E9-491A-8A25-4DC4-67D0AF89DB74}"/>
              </a:ext>
            </a:extLst>
          </p:cNvPr>
          <p:cNvSpPr>
            <a:spLocks noGrp="1"/>
          </p:cNvSpPr>
          <p:nvPr>
            <p:ph type="subTitle"/>
          </p:nvPr>
        </p:nvSpPr>
        <p:spPr/>
        <p:txBody>
          <a:bodyPr/>
          <a:lstStyle/>
          <a:p>
            <a:endParaRPr lang="en-IN" dirty="0"/>
          </a:p>
        </p:txBody>
      </p:sp>
      <p:pic>
        <p:nvPicPr>
          <p:cNvPr id="5" name="Picture 4">
            <a:extLst>
              <a:ext uri="{FF2B5EF4-FFF2-40B4-BE49-F238E27FC236}">
                <a16:creationId xmlns:a16="http://schemas.microsoft.com/office/drawing/2014/main" id="{AF6967AB-48FB-AC4C-968A-505F10D633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928" y="941462"/>
            <a:ext cx="3073940" cy="3110129"/>
          </a:xfrm>
          <a:prstGeom prst="rect">
            <a:avLst/>
          </a:prstGeom>
        </p:spPr>
      </p:pic>
      <p:pic>
        <p:nvPicPr>
          <p:cNvPr id="7" name="Picture 6">
            <a:extLst>
              <a:ext uri="{FF2B5EF4-FFF2-40B4-BE49-F238E27FC236}">
                <a16:creationId xmlns:a16="http://schemas.microsoft.com/office/drawing/2014/main" id="{B40A1323-B066-E7CF-DFF6-B689805AB0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17004" y="747851"/>
            <a:ext cx="4991200" cy="3743400"/>
          </a:xfrm>
          <a:prstGeom prst="rect">
            <a:avLst/>
          </a:prstGeom>
        </p:spPr>
      </p:pic>
    </p:spTree>
    <p:extLst>
      <p:ext uri="{BB962C8B-B14F-4D97-AF65-F5344CB8AC3E}">
        <p14:creationId xmlns:p14="http://schemas.microsoft.com/office/powerpoint/2010/main" val="2067229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66FD6-81FF-27C6-A658-B2B253A8043E}"/>
              </a:ext>
            </a:extLst>
          </p:cNvPr>
          <p:cNvSpPr>
            <a:spLocks noGrp="1"/>
          </p:cNvSpPr>
          <p:nvPr>
            <p:ph type="title"/>
          </p:nvPr>
        </p:nvSpPr>
        <p:spPr/>
        <p:txBody>
          <a:bodyPr/>
          <a:lstStyle/>
          <a:p>
            <a:r>
              <a:rPr lang="en-US" sz="2400" dirty="0"/>
              <a:t>Conclusion</a:t>
            </a:r>
            <a:endParaRPr lang="en-IN" sz="2400" dirty="0"/>
          </a:p>
        </p:txBody>
      </p:sp>
      <p:sp>
        <p:nvSpPr>
          <p:cNvPr id="3" name="Subtitle 2">
            <a:extLst>
              <a:ext uri="{FF2B5EF4-FFF2-40B4-BE49-F238E27FC236}">
                <a16:creationId xmlns:a16="http://schemas.microsoft.com/office/drawing/2014/main" id="{26231EDB-D353-4F80-B2F9-3A0480E5D103}"/>
              </a:ext>
            </a:extLst>
          </p:cNvPr>
          <p:cNvSpPr>
            <a:spLocks noGrp="1"/>
          </p:cNvSpPr>
          <p:nvPr>
            <p:ph type="subTitle"/>
          </p:nvPr>
        </p:nvSpPr>
        <p:spPr>
          <a:xfrm>
            <a:off x="370126" y="863729"/>
            <a:ext cx="8520120" cy="3747181"/>
          </a:xfrm>
        </p:spPr>
        <p:txBody>
          <a:bodyPr/>
          <a:lstStyle/>
          <a:p>
            <a:r>
              <a:rPr lang="en-US" sz="1800" dirty="0"/>
              <a:t>This project demonstrates that Genetic Algorithms are an effective method for hyperparameter optimization in machine learning models. By automating the tuning process, GA reduces manual effort and improves model performance significantly.</a:t>
            </a:r>
          </a:p>
          <a:p>
            <a:r>
              <a:rPr lang="en-US" sz="1800" dirty="0"/>
              <a:t>The comparison between KNN and SVM shows that the optimal model depends on the dataset, and GA helps in selecting the best one efficiently. The use of evolutionary techniques ensures a balance between exploration and exploitation, leading to better results than traditional methods like grid search.</a:t>
            </a:r>
          </a:p>
          <a:p>
            <a:r>
              <a:rPr lang="en-US" sz="1800" dirty="0"/>
              <a:t>Overall, the proposed approach enhances accuracy, saves time, and provides a robust solution for model optimization. This method can be extended to more complex models and real-world applications in future work.</a:t>
            </a:r>
          </a:p>
          <a:p>
            <a:endParaRPr lang="en-IN" sz="1000" dirty="0"/>
          </a:p>
        </p:txBody>
      </p:sp>
    </p:spTree>
    <p:extLst>
      <p:ext uri="{BB962C8B-B14F-4D97-AF65-F5344CB8AC3E}">
        <p14:creationId xmlns:p14="http://schemas.microsoft.com/office/powerpoint/2010/main" val="3457910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sz="2400" b="1" dirty="0">
              <a:latin typeface="Times New Roman" panose="02020603050405020304" pitchFamily="18" charset="0"/>
              <a:cs typeface="Times New Roman" panose="02020603050405020304" pitchFamily="18" charset="0"/>
            </a:endParaRPr>
          </a:p>
        </p:txBody>
      </p:sp>
      <p:sp>
        <p:nvSpPr>
          <p:cNvPr id="6" name="Title 5"/>
          <p:cNvSpPr>
            <a:spLocks noGrp="1"/>
          </p:cNvSpPr>
          <p:nvPr>
            <p:ph type="title"/>
          </p:nvPr>
        </p:nvSpPr>
        <p:spPr/>
        <p:txBody>
          <a:bodyPr/>
          <a:lstStyle/>
          <a:p>
            <a:endParaRPr lang="en-IN"/>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58403"/>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788</TotalTime>
  <Words>2147</Words>
  <Application>Microsoft Office PowerPoint</Application>
  <PresentationFormat>On-screen Show (16:9)</PresentationFormat>
  <Paragraphs>155</Paragraphs>
  <Slides>16</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16</vt:i4>
      </vt:variant>
    </vt:vector>
  </HeadingPairs>
  <TitlesOfParts>
    <vt:vector size="24" baseType="lpstr">
      <vt:lpstr>Arial</vt:lpstr>
      <vt:lpstr>Calibri</vt:lpstr>
      <vt:lpstr>Calibri Light</vt:lpstr>
      <vt:lpstr>Symbol</vt:lpstr>
      <vt:lpstr>Times New Roman</vt:lpstr>
      <vt:lpstr>Wingdings</vt:lpstr>
      <vt:lpstr>Office Theme</vt:lpstr>
      <vt:lpstr>1_Office Theme</vt:lpstr>
      <vt:lpstr>PowerPoint Presentation</vt:lpstr>
      <vt:lpstr>Contents</vt:lpstr>
      <vt:lpstr>Project / Problem Identification</vt:lpstr>
      <vt:lpstr>Abstract </vt:lpstr>
      <vt:lpstr>Introduction</vt:lpstr>
      <vt:lpstr>Functionality</vt:lpstr>
      <vt:lpstr>Implementation</vt:lpstr>
      <vt:lpstr>Implementation</vt:lpstr>
      <vt:lpstr>Implementation</vt:lpstr>
      <vt:lpstr>Project Analysis</vt:lpstr>
      <vt:lpstr>Project Analysis </vt:lpstr>
      <vt:lpstr>Literature Review: Existing Solutions</vt:lpstr>
      <vt:lpstr>Result</vt:lpstr>
      <vt:lpstr>Result </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deepak bommana</cp:lastModifiedBy>
  <cp:revision>319</cp:revision>
  <dcterms:created xsi:type="dcterms:W3CDTF">2025-02-05T14:15:00Z</dcterms:created>
  <dcterms:modified xsi:type="dcterms:W3CDTF">2026-04-07T16:28:37Z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BBED4D06FCD047D7930F325834FE3031_13</vt:lpwstr>
  </property>
  <property fmtid="{D5CDD505-2E9C-101B-9397-08002B2CF9AE}" pid="3" name="KSOProductBuildVer">
    <vt:lpwstr>2057-12.2.0.19821</vt:lpwstr>
  </property>
</Properties>
</file>